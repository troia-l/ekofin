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70" r:id="rId2"/>
    <p:sldId id="257" r:id="rId3"/>
    <p:sldId id="258" r:id="rId4"/>
    <p:sldId id="260" r:id="rId5"/>
    <p:sldId id="261" r:id="rId6"/>
    <p:sldId id="262" r:id="rId7"/>
    <p:sldId id="272" r:id="rId8"/>
    <p:sldId id="269" r:id="rId9"/>
    <p:sldId id="271" r:id="rId10"/>
    <p:sldId id="264" r:id="rId11"/>
    <p:sldId id="266" r:id="rId12"/>
    <p:sldId id="267" r:id="rId13"/>
  </p:sldIdLst>
  <p:sldSz cx="18288000" cy="10287000"/>
  <p:notesSz cx="6858000" cy="9144000"/>
  <p:embeddedFontLst>
    <p:embeddedFont>
      <p:font typeface="Active Heart" pitchFamily="2" charset="-128"/>
      <p:regular r:id="rId15"/>
    </p:embeddedFont>
    <p:embeddedFont>
      <p:font typeface="Aileron Bold"/>
      <p:regular r:id="rId16"/>
      <p:bold r:id="rId17"/>
    </p:embeddedFont>
    <p:embeddedFont>
      <p:font typeface="Arial Black" panose="020B0604020202020204" pitchFamily="34"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528" autoAdjust="0"/>
  </p:normalViewPr>
  <p:slideViewPr>
    <p:cSldViewPr>
      <p:cViewPr varScale="1">
        <p:scale>
          <a:sx n="72" d="100"/>
          <a:sy n="72" d="100"/>
        </p:scale>
        <p:origin x="688" y="224"/>
      </p:cViewPr>
      <p:guideLst>
        <p:guide orient="horz" pos="2160"/>
        <p:guide pos="2880"/>
      </p:guideLst>
    </p:cSldViewPr>
  </p:slideViewPr>
  <p:outlineViewPr>
    <p:cViewPr>
      <p:scale>
        <a:sx n="33" d="100"/>
        <a:sy n="33" d="100"/>
      </p:scale>
      <p:origin x="0" y="0"/>
    </p:cViewPr>
  </p:outlineViewPr>
  <p:notesTextViewPr>
    <p:cViewPr>
      <p:scale>
        <a:sx n="25" d="100"/>
        <a:sy n="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21.05.2026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12</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3124200" y="627449"/>
            <a:ext cx="11201400" cy="1450269"/>
          </a:xfrm>
          <a:prstGeom prst="rect">
            <a:avLst/>
          </a:prstGeom>
        </p:spPr>
        <p:txBody>
          <a:bodyPr wrap="square"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prstClr val="white"/>
                  </a:solidFill>
                </a:ln>
                <a:solidFill>
                  <a:srgbClr val="002060"/>
                </a:solidFill>
                <a:latin typeface="Arial Black" panose="020B0A04020102020204" pitchFamily="34" charset="0"/>
              </a:rPr>
              <a:t>FİNANSAL TEKNOLOJİLER YARIŞMASI PROJE SUNUMU</a:t>
            </a:r>
            <a:endParaRPr lang="en-US" sz="4400" b="1" dirty="0">
              <a:ln>
                <a:solidFill>
                  <a:prstClr val="white"/>
                </a:solidFill>
              </a:ln>
              <a:solidFill>
                <a:srgbClr val="002060"/>
              </a:solidFill>
              <a:latin typeface="Arial Black" panose="020B0A04020102020204" pitchFamily="34" charset="0"/>
            </a:endParaRP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 name="TextBox 10"/>
          <p:cNvSpPr txBox="1"/>
          <p:nvPr/>
        </p:nvSpPr>
        <p:spPr>
          <a:xfrm>
            <a:off x="1143000" y="2705100"/>
            <a:ext cx="14238557" cy="551946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EĞİTİM SEV</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YES</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a:t>
            </a: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 BAŞLIĞI:</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609600" y="9475470"/>
            <a:ext cx="17373600"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kapak</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sayfasıdır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İstenilen</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bilgiler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doğru</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girilmelidir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Tüm</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sayfalarda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olduğu</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gibi</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aynı</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kullanılmalı</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değişiklik</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yapılmamalıdır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(Bu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açıklama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silinmelidir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5" name="TextBox 115"/>
          <p:cNvSpPr txBox="1"/>
          <p:nvPr/>
        </p:nvSpPr>
        <p:spPr>
          <a:xfrm>
            <a:off x="882672" y="1740605"/>
            <a:ext cx="13521576" cy="276999"/>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Hangi problemin çözüldüğü ve bu problemin önemi (fırsatı) belirtilmelidir. </a:t>
            </a:r>
          </a:p>
        </p:txBody>
      </p:sp>
      <p:sp>
        <p:nvSpPr>
          <p:cNvPr id="172" name="Freeform 96">
            <a:extLst>
              <a:ext uri="{FF2B5EF4-FFF2-40B4-BE49-F238E27FC236}">
                <a16:creationId xmlns:a16="http://schemas.microsoft.com/office/drawing/2014/main" id="{C81AD268-F5D8-96D4-CB41-2711D2B2DF52}"/>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96">
            <a:extLst>
              <a:ext uri="{FF2B5EF4-FFF2-40B4-BE49-F238E27FC236}">
                <a16:creationId xmlns:a16="http://schemas.microsoft.com/office/drawing/2014/main" id="{45870732-0325-D24D-EEFC-79361E26B996}"/>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TextBox 34">
            <a:extLst>
              <a:ext uri="{FF2B5EF4-FFF2-40B4-BE49-F238E27FC236}">
                <a16:creationId xmlns:a16="http://schemas.microsoft.com/office/drawing/2014/main" id="{1B821A02-56E0-0354-F024-815643C3E92E}"/>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17" name="TextBox 35">
            <a:extLst>
              <a:ext uri="{FF2B5EF4-FFF2-40B4-BE49-F238E27FC236}">
                <a16:creationId xmlns:a16="http://schemas.microsoft.com/office/drawing/2014/main" id="{4731AFA0-E0B5-65F9-3382-352F6E3E2327}"/>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18" name="TextBox 36">
            <a:extLst>
              <a:ext uri="{FF2B5EF4-FFF2-40B4-BE49-F238E27FC236}">
                <a16:creationId xmlns:a16="http://schemas.microsoft.com/office/drawing/2014/main" id="{4423639D-BE4E-2BD9-D0DD-DC9388D33A41}"/>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21" name="TextBox 39">
            <a:extLst>
              <a:ext uri="{FF2B5EF4-FFF2-40B4-BE49-F238E27FC236}">
                <a16:creationId xmlns:a16="http://schemas.microsoft.com/office/drawing/2014/main" id="{E1B36A9C-1EB5-BD4A-8858-05D6402EEC80}"/>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22" name="Freeform 45">
            <a:extLst>
              <a:ext uri="{FF2B5EF4-FFF2-40B4-BE49-F238E27FC236}">
                <a16:creationId xmlns:a16="http://schemas.microsoft.com/office/drawing/2014/main" id="{F6BECA5B-EB3C-19F8-8574-45F0D874F348}"/>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3" name="Freeform 47">
            <a:extLst>
              <a:ext uri="{FF2B5EF4-FFF2-40B4-BE49-F238E27FC236}">
                <a16:creationId xmlns:a16="http://schemas.microsoft.com/office/drawing/2014/main" id="{473EA848-A438-160A-B6DF-AD97A62FD565}"/>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Freeform 22">
            <a:extLst>
              <a:ext uri="{FF2B5EF4-FFF2-40B4-BE49-F238E27FC236}">
                <a16:creationId xmlns:a16="http://schemas.microsoft.com/office/drawing/2014/main" id="{0038F425-5460-01C5-FB27-AF82F0C5CD22}"/>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5" name="Freeform 44">
            <a:extLst>
              <a:ext uri="{FF2B5EF4-FFF2-40B4-BE49-F238E27FC236}">
                <a16:creationId xmlns:a16="http://schemas.microsoft.com/office/drawing/2014/main" id="{DEC29862-0AF0-730F-7FEF-75A24F32E632}"/>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A9F5A1C6-18EF-7AC4-5ABA-FB30DC256722}"/>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27" name="Freeform 44">
            <a:extLst>
              <a:ext uri="{FF2B5EF4-FFF2-40B4-BE49-F238E27FC236}">
                <a16:creationId xmlns:a16="http://schemas.microsoft.com/office/drawing/2014/main" id="{BC3E6EE9-54F2-FB24-707A-9084ABDE3705}"/>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8" name="TextBox 39">
            <a:extLst>
              <a:ext uri="{FF2B5EF4-FFF2-40B4-BE49-F238E27FC236}">
                <a16:creationId xmlns:a16="http://schemas.microsoft.com/office/drawing/2014/main" id="{4913FDEC-94E5-5F46-6FF6-566F6743D475}"/>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32" name="AutoShape 20">
            <a:extLst>
              <a:ext uri="{FF2B5EF4-FFF2-40B4-BE49-F238E27FC236}">
                <a16:creationId xmlns:a16="http://schemas.microsoft.com/office/drawing/2014/main" id="{67C7CE66-6D33-4C26-6389-63E851FD2D5E}"/>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33" name="Freeform 21">
            <a:extLst>
              <a:ext uri="{FF2B5EF4-FFF2-40B4-BE49-F238E27FC236}">
                <a16:creationId xmlns:a16="http://schemas.microsoft.com/office/drawing/2014/main" id="{D71B68F4-A53A-044F-AE94-6E5545375426}"/>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4" name="TextBox 40">
            <a:extLst>
              <a:ext uri="{FF2B5EF4-FFF2-40B4-BE49-F238E27FC236}">
                <a16:creationId xmlns:a16="http://schemas.microsoft.com/office/drawing/2014/main" id="{D56CAA5E-F815-B3B0-555A-B61BEBBD6E1E}"/>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37" name="TextBox 42">
            <a:extLst>
              <a:ext uri="{FF2B5EF4-FFF2-40B4-BE49-F238E27FC236}">
                <a16:creationId xmlns:a16="http://schemas.microsoft.com/office/drawing/2014/main" id="{6A158838-660E-0B1F-A49B-FCD9EE2F6992}"/>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38" name="Freeform 21">
            <a:extLst>
              <a:ext uri="{FF2B5EF4-FFF2-40B4-BE49-F238E27FC236}">
                <a16:creationId xmlns:a16="http://schemas.microsoft.com/office/drawing/2014/main" id="{F66E2FF5-FDEC-3753-7A0A-0045A5626A19}"/>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F590C230-4D0A-46AF-8F97-B00268659496}"/>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E42F3CA8-D7B7-076C-130F-8D1E2C60386D}"/>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6F82838A-68A8-742D-4081-345854C8EE37}"/>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A0D64425-7A07-DD03-B395-2EAEB62719EB}"/>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F8E424A2-F911-A822-05E2-F0EF751FD41C}"/>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F1602FDD-AE00-3006-EF98-F419B9909B37}"/>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723582D9-2F40-3269-B71A-A676322C975F}"/>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AE4A7DD6-2B03-746A-F017-DDC90DC7D577}"/>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DC784DA4-5A56-CD3E-DC40-E464816D4E12}"/>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5859E9CC-77BB-9E13-F36B-613AFDB608FF}"/>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89710E9A-AFE1-8246-34CB-5117D06C8306}"/>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E820D77E-54F6-D9CB-E1E9-AC159ED101B0}"/>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DD7DE1F2-5D82-B225-6F45-86AAA0AD8FBB}"/>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0EC1FA0A-7B70-3953-4B27-AECFFA7B14AC}"/>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373CE2D6-2462-997D-B108-1A41F74DFAA6}"/>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8" name="Freeform 22">
            <a:extLst>
              <a:ext uri="{FF2B5EF4-FFF2-40B4-BE49-F238E27FC236}">
                <a16:creationId xmlns:a16="http://schemas.microsoft.com/office/drawing/2014/main" id="{8777F174-A75B-610D-7105-09A458C9E419}"/>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0" name="Freeform 22">
            <a:extLst>
              <a:ext uri="{FF2B5EF4-FFF2-40B4-BE49-F238E27FC236}">
                <a16:creationId xmlns:a16="http://schemas.microsoft.com/office/drawing/2014/main" id="{FC4509C8-2959-E88F-CF6D-D446C28CC355}"/>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1" name="TextBox 34">
            <a:extLst>
              <a:ext uri="{FF2B5EF4-FFF2-40B4-BE49-F238E27FC236}">
                <a16:creationId xmlns:a16="http://schemas.microsoft.com/office/drawing/2014/main" id="{4DB63ED2-B711-7FA0-96D7-BCD1179D2966}"/>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62" name="Freeform 97">
            <a:extLst>
              <a:ext uri="{FF2B5EF4-FFF2-40B4-BE49-F238E27FC236}">
                <a16:creationId xmlns:a16="http://schemas.microsoft.com/office/drawing/2014/main" id="{9CA00E00-A63D-6CEC-22F1-0616625EAB2B}"/>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73" name="Freeform 97">
            <a:extLst>
              <a:ext uri="{FF2B5EF4-FFF2-40B4-BE49-F238E27FC236}">
                <a16:creationId xmlns:a16="http://schemas.microsoft.com/office/drawing/2014/main" id="{690B6912-82B5-F9E3-6ED2-C525F6B017B9}"/>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7" name="TextBox 8">
            <a:extLst>
              <a:ext uri="{FF2B5EF4-FFF2-40B4-BE49-F238E27FC236}">
                <a16:creationId xmlns:a16="http://schemas.microsoft.com/office/drawing/2014/main" id="{D929841C-FAEA-CD80-F64B-04DADE4A3E09}"/>
              </a:ext>
            </a:extLst>
          </p:cNvPr>
          <p:cNvSpPr txBox="1"/>
          <p:nvPr/>
        </p:nvSpPr>
        <p:spPr>
          <a:xfrm>
            <a:off x="5702558" y="274012"/>
            <a:ext cx="6882884"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PROBLEM</a:t>
            </a:r>
            <a:r>
              <a:rPr lang="tr-TR" sz="6399" dirty="0">
                <a:solidFill>
                  <a:srgbClr val="1A426A"/>
                </a:solidFill>
                <a:latin typeface="Active Heart"/>
              </a:rPr>
              <a:t> (0-5 Puan)</a:t>
            </a:r>
            <a:endParaRPr lang="en-US" sz="6399" dirty="0">
              <a:solidFill>
                <a:srgbClr val="1A426A"/>
              </a:solidFill>
              <a:latin typeface="Active Heart"/>
            </a:endParaRPr>
          </a:p>
        </p:txBody>
      </p:sp>
      <p:sp>
        <p:nvSpPr>
          <p:cNvPr id="12" name="TextBox 114">
            <a:extLst>
              <a:ext uri="{FF2B5EF4-FFF2-40B4-BE49-F238E27FC236}">
                <a16:creationId xmlns:a16="http://schemas.microsoft.com/office/drawing/2014/main" id="{F5E5CA52-6BB6-ADDD-BF8A-B88BCCC5FAF1}"/>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
        <p:nvSpPr>
          <p:cNvPr id="29" name="Metin kutusu 28">
            <a:extLst>
              <a:ext uri="{FF2B5EF4-FFF2-40B4-BE49-F238E27FC236}">
                <a16:creationId xmlns:a16="http://schemas.microsoft.com/office/drawing/2014/main" id="{07E8086F-1625-8FB8-D122-801FE874107D}"/>
              </a:ext>
            </a:extLst>
          </p:cNvPr>
          <p:cNvSpPr txBox="1"/>
          <p:nvPr/>
        </p:nvSpPr>
        <p:spPr>
          <a:xfrm>
            <a:off x="18500651" y="9271591"/>
            <a:ext cx="184731" cy="369332"/>
          </a:xfrm>
          <a:prstGeom prst="rect">
            <a:avLst/>
          </a:prstGeom>
          <a:noFill/>
        </p:spPr>
        <p:txBody>
          <a:bodyPr wrap="none" rtlCol="0">
            <a:spAutoFit/>
          </a:bodyPr>
          <a:lstStyle/>
          <a:p>
            <a:endParaRPr lang="tr-TR" dirty="0"/>
          </a:p>
        </p:txBody>
      </p:sp>
      <p:sp>
        <p:nvSpPr>
          <p:cNvPr id="31" name="TextBox 10">
            <a:extLst>
              <a:ext uri="{FF2B5EF4-FFF2-40B4-BE49-F238E27FC236}">
                <a16:creationId xmlns:a16="http://schemas.microsoft.com/office/drawing/2014/main" id="{B4B48AA2-3AB5-709B-DB15-E3AAA168EE42}"/>
              </a:ext>
            </a:extLst>
          </p:cNvPr>
          <p:cNvSpPr txBox="1"/>
          <p:nvPr/>
        </p:nvSpPr>
        <p:spPr>
          <a:xfrm>
            <a:off x="17907028" y="9607673"/>
            <a:ext cx="230207"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1</a:t>
            </a:r>
            <a:endParaRPr lang="en-US" sz="3399" dirty="0">
              <a:solidFill>
                <a:srgbClr val="1A426A"/>
              </a:solidFill>
              <a:latin typeface="Active Hear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reeform 96">
            <a:extLst>
              <a:ext uri="{FF2B5EF4-FFF2-40B4-BE49-F238E27FC236}">
                <a16:creationId xmlns:a16="http://schemas.microsoft.com/office/drawing/2014/main" id="{5D2399D7-510D-A462-28B9-4A7E5E107B1C}"/>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4B80214A-ED73-E413-AF35-6118A8202817}"/>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TextBox 34">
            <a:extLst>
              <a:ext uri="{FF2B5EF4-FFF2-40B4-BE49-F238E27FC236}">
                <a16:creationId xmlns:a16="http://schemas.microsoft.com/office/drawing/2014/main" id="{CC5267F2-2946-60CE-A372-1495067380E3}"/>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63" name="TextBox 35">
            <a:extLst>
              <a:ext uri="{FF2B5EF4-FFF2-40B4-BE49-F238E27FC236}">
                <a16:creationId xmlns:a16="http://schemas.microsoft.com/office/drawing/2014/main" id="{2503CA74-831D-3B67-7437-6EC3273D1142}"/>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64" name="TextBox 36">
            <a:extLst>
              <a:ext uri="{FF2B5EF4-FFF2-40B4-BE49-F238E27FC236}">
                <a16:creationId xmlns:a16="http://schemas.microsoft.com/office/drawing/2014/main" id="{4168CDB7-6B77-001F-11A2-B07AAC48C826}"/>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65" name="TextBox 39">
            <a:extLst>
              <a:ext uri="{FF2B5EF4-FFF2-40B4-BE49-F238E27FC236}">
                <a16:creationId xmlns:a16="http://schemas.microsoft.com/office/drawing/2014/main" id="{18601AD2-2460-48A7-DEE9-367D8BCD2CA6}"/>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66" name="Freeform 45">
            <a:extLst>
              <a:ext uri="{FF2B5EF4-FFF2-40B4-BE49-F238E27FC236}">
                <a16:creationId xmlns:a16="http://schemas.microsoft.com/office/drawing/2014/main" id="{D42E7D8B-C0AA-E68A-572D-400947063800}"/>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7" name="Freeform 47">
            <a:extLst>
              <a:ext uri="{FF2B5EF4-FFF2-40B4-BE49-F238E27FC236}">
                <a16:creationId xmlns:a16="http://schemas.microsoft.com/office/drawing/2014/main" id="{E6E28CB2-3FE1-78C7-8AF8-8A8FA519BD71}"/>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8" name="Freeform 22">
            <a:extLst>
              <a:ext uri="{FF2B5EF4-FFF2-40B4-BE49-F238E27FC236}">
                <a16:creationId xmlns:a16="http://schemas.microsoft.com/office/drawing/2014/main" id="{B118470F-FB3A-42CD-2714-02A485BF8A5A}"/>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9" name="Freeform 44">
            <a:extLst>
              <a:ext uri="{FF2B5EF4-FFF2-40B4-BE49-F238E27FC236}">
                <a16:creationId xmlns:a16="http://schemas.microsoft.com/office/drawing/2014/main" id="{692B6E98-6E26-0F61-8C91-5337DBE001C2}"/>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0" name="TextBox 38">
            <a:extLst>
              <a:ext uri="{FF2B5EF4-FFF2-40B4-BE49-F238E27FC236}">
                <a16:creationId xmlns:a16="http://schemas.microsoft.com/office/drawing/2014/main" id="{EE39E0B4-926E-034D-BDB6-60EF6B1D561A}"/>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71" name="Freeform 44">
            <a:extLst>
              <a:ext uri="{FF2B5EF4-FFF2-40B4-BE49-F238E27FC236}">
                <a16:creationId xmlns:a16="http://schemas.microsoft.com/office/drawing/2014/main" id="{B2BA8B32-B658-35C3-ECDF-0F49EAFEBEA6}"/>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2" name="TextBox 39">
            <a:extLst>
              <a:ext uri="{FF2B5EF4-FFF2-40B4-BE49-F238E27FC236}">
                <a16:creationId xmlns:a16="http://schemas.microsoft.com/office/drawing/2014/main" id="{73431EE5-82D6-B4E1-C794-6E24ECA5F08B}"/>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73" name="AutoShape 20">
            <a:extLst>
              <a:ext uri="{FF2B5EF4-FFF2-40B4-BE49-F238E27FC236}">
                <a16:creationId xmlns:a16="http://schemas.microsoft.com/office/drawing/2014/main" id="{282DB60C-7A80-E4E5-D866-458E17865656}"/>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74" name="Freeform 21">
            <a:extLst>
              <a:ext uri="{FF2B5EF4-FFF2-40B4-BE49-F238E27FC236}">
                <a16:creationId xmlns:a16="http://schemas.microsoft.com/office/drawing/2014/main" id="{A3C3C272-10E1-89D6-7B49-E5DA6C6E55E9}"/>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5" name="TextBox 40">
            <a:extLst>
              <a:ext uri="{FF2B5EF4-FFF2-40B4-BE49-F238E27FC236}">
                <a16:creationId xmlns:a16="http://schemas.microsoft.com/office/drawing/2014/main" id="{9D4685DE-84BE-91E2-C617-4C6722B4C2E2}"/>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76" name="TextBox 42">
            <a:extLst>
              <a:ext uri="{FF2B5EF4-FFF2-40B4-BE49-F238E27FC236}">
                <a16:creationId xmlns:a16="http://schemas.microsoft.com/office/drawing/2014/main" id="{B2FB8E1B-8B22-1D7C-D7AC-DA1A117B8832}"/>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7" name="Freeform 21">
            <a:extLst>
              <a:ext uri="{FF2B5EF4-FFF2-40B4-BE49-F238E27FC236}">
                <a16:creationId xmlns:a16="http://schemas.microsoft.com/office/drawing/2014/main" id="{F1D06DBC-1DE5-506B-AD1F-9B68E0121918}"/>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9" name="Freeform 21">
            <a:extLst>
              <a:ext uri="{FF2B5EF4-FFF2-40B4-BE49-F238E27FC236}">
                <a16:creationId xmlns:a16="http://schemas.microsoft.com/office/drawing/2014/main" id="{8CB2C4A2-67D5-D8E5-12A0-C8483CD8B599}"/>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0" name="Freeform 22">
            <a:extLst>
              <a:ext uri="{FF2B5EF4-FFF2-40B4-BE49-F238E27FC236}">
                <a16:creationId xmlns:a16="http://schemas.microsoft.com/office/drawing/2014/main" id="{0F9C6165-8425-B3EB-5D00-40119D471B29}"/>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1" name="Freeform 21">
            <a:extLst>
              <a:ext uri="{FF2B5EF4-FFF2-40B4-BE49-F238E27FC236}">
                <a16:creationId xmlns:a16="http://schemas.microsoft.com/office/drawing/2014/main" id="{8FC38ABE-C442-2EE0-0ADA-7D3003386FFD}"/>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4" name="Freeform 22">
            <a:extLst>
              <a:ext uri="{FF2B5EF4-FFF2-40B4-BE49-F238E27FC236}">
                <a16:creationId xmlns:a16="http://schemas.microsoft.com/office/drawing/2014/main" id="{198349B6-2D64-F417-D53F-E843CC267E9A}"/>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5" name="Freeform 21">
            <a:extLst>
              <a:ext uri="{FF2B5EF4-FFF2-40B4-BE49-F238E27FC236}">
                <a16:creationId xmlns:a16="http://schemas.microsoft.com/office/drawing/2014/main" id="{0C4DFBA2-AD42-13E6-048D-8A598274A3A5}"/>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6" name="Freeform 22">
            <a:extLst>
              <a:ext uri="{FF2B5EF4-FFF2-40B4-BE49-F238E27FC236}">
                <a16:creationId xmlns:a16="http://schemas.microsoft.com/office/drawing/2014/main" id="{57026FF5-C4E9-45A1-F575-A220A5355A64}"/>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7" name="Freeform 21">
            <a:extLst>
              <a:ext uri="{FF2B5EF4-FFF2-40B4-BE49-F238E27FC236}">
                <a16:creationId xmlns:a16="http://schemas.microsoft.com/office/drawing/2014/main" id="{222D85C6-ED9F-2719-183F-AAEF7A4E7FC5}"/>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8" name="Freeform 22">
            <a:extLst>
              <a:ext uri="{FF2B5EF4-FFF2-40B4-BE49-F238E27FC236}">
                <a16:creationId xmlns:a16="http://schemas.microsoft.com/office/drawing/2014/main" id="{8A06CF80-7CAA-B15D-A372-65F8AA66D11E}"/>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9" name="Freeform 21">
            <a:extLst>
              <a:ext uri="{FF2B5EF4-FFF2-40B4-BE49-F238E27FC236}">
                <a16:creationId xmlns:a16="http://schemas.microsoft.com/office/drawing/2014/main" id="{F441A770-D84E-8EAA-3EEE-6D3B74C01C5F}"/>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0" name="Freeform 22">
            <a:extLst>
              <a:ext uri="{FF2B5EF4-FFF2-40B4-BE49-F238E27FC236}">
                <a16:creationId xmlns:a16="http://schemas.microsoft.com/office/drawing/2014/main" id="{3FCA906A-AD40-9FBC-FC4C-F3682A17EE12}"/>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1" name="Freeform 21">
            <a:extLst>
              <a:ext uri="{FF2B5EF4-FFF2-40B4-BE49-F238E27FC236}">
                <a16:creationId xmlns:a16="http://schemas.microsoft.com/office/drawing/2014/main" id="{DC334A7D-8C48-9585-1F33-286B99FADCCC}"/>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2" name="Freeform 22">
            <a:extLst>
              <a:ext uri="{FF2B5EF4-FFF2-40B4-BE49-F238E27FC236}">
                <a16:creationId xmlns:a16="http://schemas.microsoft.com/office/drawing/2014/main" id="{E81ADBA7-72C9-8305-3D71-529915AFC3C7}"/>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22">
            <a:extLst>
              <a:ext uri="{FF2B5EF4-FFF2-40B4-BE49-F238E27FC236}">
                <a16:creationId xmlns:a16="http://schemas.microsoft.com/office/drawing/2014/main" id="{B83ADD23-962F-7D76-7EF8-D16DD931E8D5}"/>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4" name="Freeform 21">
            <a:extLst>
              <a:ext uri="{FF2B5EF4-FFF2-40B4-BE49-F238E27FC236}">
                <a16:creationId xmlns:a16="http://schemas.microsoft.com/office/drawing/2014/main" id="{374C6EA7-771C-27B1-5287-5F24982C0AC4}"/>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5" name="Freeform 22">
            <a:extLst>
              <a:ext uri="{FF2B5EF4-FFF2-40B4-BE49-F238E27FC236}">
                <a16:creationId xmlns:a16="http://schemas.microsoft.com/office/drawing/2014/main" id="{FA8A2FE0-B19F-C238-4772-0883B671943E}"/>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6" name="Freeform 22">
            <a:extLst>
              <a:ext uri="{FF2B5EF4-FFF2-40B4-BE49-F238E27FC236}">
                <a16:creationId xmlns:a16="http://schemas.microsoft.com/office/drawing/2014/main" id="{20CEDF3D-D318-010C-379C-EA6666492A1B}"/>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7" name="TextBox 34">
            <a:extLst>
              <a:ext uri="{FF2B5EF4-FFF2-40B4-BE49-F238E27FC236}">
                <a16:creationId xmlns:a16="http://schemas.microsoft.com/office/drawing/2014/main" id="{476B4BBC-15E5-0C47-2543-DCC3DF9F9A76}"/>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98" name="Freeform 97">
            <a:extLst>
              <a:ext uri="{FF2B5EF4-FFF2-40B4-BE49-F238E27FC236}">
                <a16:creationId xmlns:a16="http://schemas.microsoft.com/office/drawing/2014/main" id="{73A9DE1F-7199-0813-C3DF-6E0C4C1D3136}"/>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97">
            <a:extLst>
              <a:ext uri="{FF2B5EF4-FFF2-40B4-BE49-F238E27FC236}">
                <a16:creationId xmlns:a16="http://schemas.microsoft.com/office/drawing/2014/main" id="{2E005CB2-30A6-3B77-E428-B310FACA9E72}"/>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0" name="TextBox 8">
            <a:extLst>
              <a:ext uri="{FF2B5EF4-FFF2-40B4-BE49-F238E27FC236}">
                <a16:creationId xmlns:a16="http://schemas.microsoft.com/office/drawing/2014/main" id="{8DB8DA5F-A8A3-17FB-BD47-68CC58294624}"/>
              </a:ext>
            </a:extLst>
          </p:cNvPr>
          <p:cNvSpPr txBox="1"/>
          <p:nvPr/>
        </p:nvSpPr>
        <p:spPr>
          <a:xfrm>
            <a:off x="5949757" y="286242"/>
            <a:ext cx="6388486"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ÇÖZÜM</a:t>
            </a:r>
            <a:r>
              <a:rPr lang="tr-TR" sz="6399" dirty="0">
                <a:solidFill>
                  <a:srgbClr val="1A426A"/>
                </a:solidFill>
                <a:latin typeface="Active Heart"/>
              </a:rPr>
              <a:t> (0-15 Puan)</a:t>
            </a:r>
            <a:endParaRPr lang="en-US" sz="6399" dirty="0">
              <a:solidFill>
                <a:srgbClr val="1A426A"/>
              </a:solidFill>
              <a:latin typeface="Active Heart"/>
            </a:endParaRPr>
          </a:p>
        </p:txBody>
      </p:sp>
      <p:sp>
        <p:nvSpPr>
          <p:cNvPr id="101" name="TextBox 115">
            <a:extLst>
              <a:ext uri="{FF2B5EF4-FFF2-40B4-BE49-F238E27FC236}">
                <a16:creationId xmlns:a16="http://schemas.microsoft.com/office/drawing/2014/main" id="{47A1EFA5-7BBB-32D7-5289-F8E8D83CDF99}"/>
              </a:ext>
            </a:extLst>
          </p:cNvPr>
          <p:cNvSpPr txBox="1"/>
          <p:nvPr/>
        </p:nvSpPr>
        <p:spPr>
          <a:xfrm>
            <a:off x="882672" y="1740605"/>
            <a:ext cx="13521576" cy="1261884"/>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Projenin problemi nasıl çözümleyeceği net ve açık bir şekilde tarif edilmelidir. Proje fikrinin problem ile ilişkisi kurularak toplumsal faydası açıklanmalıdır.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Bu kısımda çözüme ait görsellere (prototip fotoğrafı, 3B teknik resimler vb.) ve tasarım hakkında bilgilere de yer verilmelidir. </a:t>
            </a:r>
          </a:p>
        </p:txBody>
      </p:sp>
      <p:sp>
        <p:nvSpPr>
          <p:cNvPr id="103" name="Freeform 22">
            <a:extLst>
              <a:ext uri="{FF2B5EF4-FFF2-40B4-BE49-F238E27FC236}">
                <a16:creationId xmlns:a16="http://schemas.microsoft.com/office/drawing/2014/main" id="{BC094C18-5819-9977-DE71-00E11641A847}"/>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F416DCCF-AAC3-563C-8480-9544228DB27D}"/>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
        <p:nvSpPr>
          <p:cNvPr id="17" name="TextBox 10">
            <a:extLst>
              <a:ext uri="{FF2B5EF4-FFF2-40B4-BE49-F238E27FC236}">
                <a16:creationId xmlns:a16="http://schemas.microsoft.com/office/drawing/2014/main" id="{F05C90EE-6441-E97E-72E7-EAC6D4B3B21F}"/>
              </a:ext>
            </a:extLst>
          </p:cNvPr>
          <p:cNvSpPr txBox="1"/>
          <p:nvPr/>
        </p:nvSpPr>
        <p:spPr>
          <a:xfrm>
            <a:off x="17907028" y="9607673"/>
            <a:ext cx="230207" cy="519822"/>
          </a:xfrm>
          <a:prstGeom prst="rect">
            <a:avLst/>
          </a:prstGeom>
        </p:spPr>
        <p:txBody>
          <a:bodyPr lIns="0" tIns="0" rIns="0" bIns="0" rtlCol="0" anchor="t">
            <a:spAutoFit/>
          </a:bodyPr>
          <a:lstStyle/>
          <a:p>
            <a:pPr algn="ctr">
              <a:lnSpc>
                <a:spcPts val="4759"/>
              </a:lnSpc>
            </a:pPr>
            <a:r>
              <a:rPr lang="en-US" sz="3399" dirty="0">
                <a:solidFill>
                  <a:srgbClr val="1A426A"/>
                </a:solidFill>
                <a:latin typeface="Active Heart"/>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10"/>
          <p:cNvSpPr txBox="1">
            <a:spLocks noGrp="1" noRot="1" noMove="1" noResize="1" noEditPoints="1" noAdjustHandles="1" noChangeArrowheads="1" noChangeShapeType="1"/>
          </p:cNvSpPr>
          <p:nvPr/>
        </p:nvSpPr>
        <p:spPr>
          <a:xfrm>
            <a:off x="17907028" y="9607673"/>
            <a:ext cx="230207"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3</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6DCDBEA5-337A-BF6C-0D1C-0850B1F4613E}"/>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E704932E-8F61-3388-9961-9B4662070DE3}"/>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TextBox 34">
            <a:extLst>
              <a:ext uri="{FF2B5EF4-FFF2-40B4-BE49-F238E27FC236}">
                <a16:creationId xmlns:a16="http://schemas.microsoft.com/office/drawing/2014/main" id="{963C2DA3-91CD-67D0-1822-06C71FDD68C4}"/>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58" name="TextBox 35">
            <a:extLst>
              <a:ext uri="{FF2B5EF4-FFF2-40B4-BE49-F238E27FC236}">
                <a16:creationId xmlns:a16="http://schemas.microsoft.com/office/drawing/2014/main" id="{061E24EB-F5AF-90DF-CBB3-B8857F3A701C}"/>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59" name="TextBox 36">
            <a:extLst>
              <a:ext uri="{FF2B5EF4-FFF2-40B4-BE49-F238E27FC236}">
                <a16:creationId xmlns:a16="http://schemas.microsoft.com/office/drawing/2014/main" id="{7EB4C6BC-5614-A766-83E1-A8641EBBD226}"/>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60" name="TextBox 39">
            <a:extLst>
              <a:ext uri="{FF2B5EF4-FFF2-40B4-BE49-F238E27FC236}">
                <a16:creationId xmlns:a16="http://schemas.microsoft.com/office/drawing/2014/main" id="{D65F2603-3EDF-BD69-6022-7F9226527044}"/>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61" name="Freeform 45">
            <a:extLst>
              <a:ext uri="{FF2B5EF4-FFF2-40B4-BE49-F238E27FC236}">
                <a16:creationId xmlns:a16="http://schemas.microsoft.com/office/drawing/2014/main" id="{E69A6623-7FFE-0D2A-A337-953DFDCA5916}"/>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2" name="Freeform 47">
            <a:extLst>
              <a:ext uri="{FF2B5EF4-FFF2-40B4-BE49-F238E27FC236}">
                <a16:creationId xmlns:a16="http://schemas.microsoft.com/office/drawing/2014/main" id="{DFFE51C3-3C24-2C79-6A16-AEEB98349888}"/>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3" name="Freeform 22">
            <a:extLst>
              <a:ext uri="{FF2B5EF4-FFF2-40B4-BE49-F238E27FC236}">
                <a16:creationId xmlns:a16="http://schemas.microsoft.com/office/drawing/2014/main" id="{3E1751C3-E241-1591-CFFD-7485524E92D4}"/>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4" name="Freeform 44">
            <a:extLst>
              <a:ext uri="{FF2B5EF4-FFF2-40B4-BE49-F238E27FC236}">
                <a16:creationId xmlns:a16="http://schemas.microsoft.com/office/drawing/2014/main" id="{85A61756-26D7-FE4A-03DE-41C09C4E1FF8}"/>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5" name="TextBox 38">
            <a:extLst>
              <a:ext uri="{FF2B5EF4-FFF2-40B4-BE49-F238E27FC236}">
                <a16:creationId xmlns:a16="http://schemas.microsoft.com/office/drawing/2014/main" id="{D26D43B8-C70E-AC2E-54D3-86EF137C1E87}"/>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66" name="Freeform 44">
            <a:extLst>
              <a:ext uri="{FF2B5EF4-FFF2-40B4-BE49-F238E27FC236}">
                <a16:creationId xmlns:a16="http://schemas.microsoft.com/office/drawing/2014/main" id="{F5F5B8A2-92F9-D124-35D8-54332C4DCC7B}"/>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7" name="TextBox 39">
            <a:extLst>
              <a:ext uri="{FF2B5EF4-FFF2-40B4-BE49-F238E27FC236}">
                <a16:creationId xmlns:a16="http://schemas.microsoft.com/office/drawing/2014/main" id="{59430157-E908-61BA-6C96-8F07B318644F}"/>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68" name="AutoShape 20">
            <a:extLst>
              <a:ext uri="{FF2B5EF4-FFF2-40B4-BE49-F238E27FC236}">
                <a16:creationId xmlns:a16="http://schemas.microsoft.com/office/drawing/2014/main" id="{493E1FF1-F6EF-FD43-8331-BF58B7E0CCEC}"/>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69" name="Freeform 21">
            <a:extLst>
              <a:ext uri="{FF2B5EF4-FFF2-40B4-BE49-F238E27FC236}">
                <a16:creationId xmlns:a16="http://schemas.microsoft.com/office/drawing/2014/main" id="{CE877E79-C237-BC44-3609-7BDB6BF5C94A}"/>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0" name="TextBox 40">
            <a:extLst>
              <a:ext uri="{FF2B5EF4-FFF2-40B4-BE49-F238E27FC236}">
                <a16:creationId xmlns:a16="http://schemas.microsoft.com/office/drawing/2014/main" id="{60C30044-DDE4-A836-DBF0-775CE8A67865}"/>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71" name="TextBox 42">
            <a:extLst>
              <a:ext uri="{FF2B5EF4-FFF2-40B4-BE49-F238E27FC236}">
                <a16:creationId xmlns:a16="http://schemas.microsoft.com/office/drawing/2014/main" id="{70C2DA01-A07E-3478-17E2-1385E5C88668}"/>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2" name="Freeform 21">
            <a:extLst>
              <a:ext uri="{FF2B5EF4-FFF2-40B4-BE49-F238E27FC236}">
                <a16:creationId xmlns:a16="http://schemas.microsoft.com/office/drawing/2014/main" id="{46662642-8128-EAA6-651D-33B310F8DA71}"/>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3" name="Freeform 22">
            <a:extLst>
              <a:ext uri="{FF2B5EF4-FFF2-40B4-BE49-F238E27FC236}">
                <a16:creationId xmlns:a16="http://schemas.microsoft.com/office/drawing/2014/main" id="{1639F8D5-967B-A7FC-090F-4B00E87ACCBA}"/>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4" name="Freeform 21">
            <a:extLst>
              <a:ext uri="{FF2B5EF4-FFF2-40B4-BE49-F238E27FC236}">
                <a16:creationId xmlns:a16="http://schemas.microsoft.com/office/drawing/2014/main" id="{4D044932-966D-4A30-D1CE-A67C38F4CC3B}"/>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6" name="Freeform 21">
            <a:extLst>
              <a:ext uri="{FF2B5EF4-FFF2-40B4-BE49-F238E27FC236}">
                <a16:creationId xmlns:a16="http://schemas.microsoft.com/office/drawing/2014/main" id="{821669DB-02A8-4167-3A44-9AAA87B84791}"/>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7" name="Freeform 22">
            <a:extLst>
              <a:ext uri="{FF2B5EF4-FFF2-40B4-BE49-F238E27FC236}">
                <a16:creationId xmlns:a16="http://schemas.microsoft.com/office/drawing/2014/main" id="{8C560D67-008F-8499-E463-E8423CA94F64}"/>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8" name="Freeform 21">
            <a:extLst>
              <a:ext uri="{FF2B5EF4-FFF2-40B4-BE49-F238E27FC236}">
                <a16:creationId xmlns:a16="http://schemas.microsoft.com/office/drawing/2014/main" id="{DCC32C1E-3240-E729-6C8E-7D9532075BC9}"/>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9" name="Freeform 22">
            <a:extLst>
              <a:ext uri="{FF2B5EF4-FFF2-40B4-BE49-F238E27FC236}">
                <a16:creationId xmlns:a16="http://schemas.microsoft.com/office/drawing/2014/main" id="{B661B504-DD07-FE6A-F61C-0F4E6325FCFA}"/>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0" name="Freeform 21">
            <a:extLst>
              <a:ext uri="{FF2B5EF4-FFF2-40B4-BE49-F238E27FC236}">
                <a16:creationId xmlns:a16="http://schemas.microsoft.com/office/drawing/2014/main" id="{8DC3C697-72FB-0DFF-1BDF-C627CC4DDEC0}"/>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7" name="Freeform 22">
            <a:extLst>
              <a:ext uri="{FF2B5EF4-FFF2-40B4-BE49-F238E27FC236}">
                <a16:creationId xmlns:a16="http://schemas.microsoft.com/office/drawing/2014/main" id="{36587E81-3175-C76E-88AA-D0332111F0BB}"/>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8" name="Freeform 21">
            <a:extLst>
              <a:ext uri="{FF2B5EF4-FFF2-40B4-BE49-F238E27FC236}">
                <a16:creationId xmlns:a16="http://schemas.microsoft.com/office/drawing/2014/main" id="{4E9BC070-C4AE-094B-0155-F32BB19E5B67}"/>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9" name="Freeform 22">
            <a:extLst>
              <a:ext uri="{FF2B5EF4-FFF2-40B4-BE49-F238E27FC236}">
                <a16:creationId xmlns:a16="http://schemas.microsoft.com/office/drawing/2014/main" id="{9EC9F520-95BD-A79B-8849-3E88C55FA91F}"/>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0" name="Freeform 21">
            <a:extLst>
              <a:ext uri="{FF2B5EF4-FFF2-40B4-BE49-F238E27FC236}">
                <a16:creationId xmlns:a16="http://schemas.microsoft.com/office/drawing/2014/main" id="{E46FE786-45ED-70D5-929C-F7DA0B0F69BF}"/>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1" name="Freeform 22">
            <a:extLst>
              <a:ext uri="{FF2B5EF4-FFF2-40B4-BE49-F238E27FC236}">
                <a16:creationId xmlns:a16="http://schemas.microsoft.com/office/drawing/2014/main" id="{3856C4B6-B147-C528-A6F3-593180CCE681}"/>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2" name="Freeform 22">
            <a:extLst>
              <a:ext uri="{FF2B5EF4-FFF2-40B4-BE49-F238E27FC236}">
                <a16:creationId xmlns:a16="http://schemas.microsoft.com/office/drawing/2014/main" id="{75E2FBB6-7CB7-AB11-8EAE-18C0E5BB79AD}"/>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21">
            <a:extLst>
              <a:ext uri="{FF2B5EF4-FFF2-40B4-BE49-F238E27FC236}">
                <a16:creationId xmlns:a16="http://schemas.microsoft.com/office/drawing/2014/main" id="{6D7DA3AC-240E-0F61-87F8-E63B58EDE06B}"/>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4" name="Freeform 22">
            <a:extLst>
              <a:ext uri="{FF2B5EF4-FFF2-40B4-BE49-F238E27FC236}">
                <a16:creationId xmlns:a16="http://schemas.microsoft.com/office/drawing/2014/main" id="{DE2BD726-6A59-9E50-4D9C-EC35B0FB0081}"/>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5" name="Freeform 22">
            <a:extLst>
              <a:ext uri="{FF2B5EF4-FFF2-40B4-BE49-F238E27FC236}">
                <a16:creationId xmlns:a16="http://schemas.microsoft.com/office/drawing/2014/main" id="{AFD00F92-9EF3-6077-F888-A94AABFC2465}"/>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6" name="TextBox 34">
            <a:extLst>
              <a:ext uri="{FF2B5EF4-FFF2-40B4-BE49-F238E27FC236}">
                <a16:creationId xmlns:a16="http://schemas.microsoft.com/office/drawing/2014/main" id="{B5026BC2-A3CC-9DD9-402B-59870D3D8C23}"/>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97" name="Freeform 97">
            <a:extLst>
              <a:ext uri="{FF2B5EF4-FFF2-40B4-BE49-F238E27FC236}">
                <a16:creationId xmlns:a16="http://schemas.microsoft.com/office/drawing/2014/main" id="{00BCF08F-0C3E-5699-95D2-A669A626E8BE}"/>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8" name="Freeform 97">
            <a:extLst>
              <a:ext uri="{FF2B5EF4-FFF2-40B4-BE49-F238E27FC236}">
                <a16:creationId xmlns:a16="http://schemas.microsoft.com/office/drawing/2014/main" id="{65CD5658-0194-AA3A-D481-21DE7EB45D75}"/>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TextBox 8">
            <a:extLst>
              <a:ext uri="{FF2B5EF4-FFF2-40B4-BE49-F238E27FC236}">
                <a16:creationId xmlns:a16="http://schemas.microsoft.com/office/drawing/2014/main" id="{B0DB238C-B0AF-9D4E-1174-AE3016DA2865}"/>
              </a:ext>
            </a:extLst>
          </p:cNvPr>
          <p:cNvSpPr txBox="1"/>
          <p:nvPr/>
        </p:nvSpPr>
        <p:spPr>
          <a:xfrm>
            <a:off x="3023042" y="286242"/>
            <a:ext cx="12241917"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KULLANILACAK YÖNTEM</a:t>
            </a:r>
            <a:r>
              <a:rPr lang="tr-TR" sz="6399" dirty="0">
                <a:solidFill>
                  <a:srgbClr val="1A426A"/>
                </a:solidFill>
                <a:latin typeface="Active Heart"/>
              </a:rPr>
              <a:t> (0-20 Puan)</a:t>
            </a:r>
            <a:endParaRPr lang="en-US" sz="6399" dirty="0">
              <a:solidFill>
                <a:srgbClr val="1A426A"/>
              </a:solidFill>
              <a:latin typeface="Active Heart"/>
            </a:endParaRPr>
          </a:p>
        </p:txBody>
      </p:sp>
      <p:sp>
        <p:nvSpPr>
          <p:cNvPr id="101" name="TextBox 115">
            <a:extLst>
              <a:ext uri="{FF2B5EF4-FFF2-40B4-BE49-F238E27FC236}">
                <a16:creationId xmlns:a16="http://schemas.microsoft.com/office/drawing/2014/main" id="{99943804-13F2-1336-8C01-75854AC77984}"/>
              </a:ext>
            </a:extLst>
          </p:cNvPr>
          <p:cNvSpPr txBox="1"/>
          <p:nvPr/>
        </p:nvSpPr>
        <p:spPr>
          <a:xfrm>
            <a:off x="882672" y="1740605"/>
            <a:ext cx="13521576" cy="1969770"/>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Önerilen çözümü hayata geçirirken kullanılan yöntem net ve detaylı olarak açıklanmalıdır. Yönteminizin hangi bilimsel ilkeler ve teknolojik uygulamalar üzerine kurgulandığı belirtilmelidir.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 ileri teknoloji içermeli ve/veya mevcut teknolojileri yenilikçi ve özgün yöntemler ile uygulamalıdır.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Projenin özgün yönleri belirtilmelidir. </a:t>
            </a:r>
          </a:p>
        </p:txBody>
      </p:sp>
      <p:sp>
        <p:nvSpPr>
          <p:cNvPr id="103" name="Freeform 22">
            <a:extLst>
              <a:ext uri="{FF2B5EF4-FFF2-40B4-BE49-F238E27FC236}">
                <a16:creationId xmlns:a16="http://schemas.microsoft.com/office/drawing/2014/main" id="{8078B595-A3CE-847D-7626-6EFB13081D1D}"/>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DCB14E19-4DD7-E7C8-469E-A692EFCFE2B0}"/>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10"/>
          <p:cNvSpPr txBox="1">
            <a:spLocks noGrp="1" noRot="1" noMove="1" noResize="1" noEditPoints="1" noAdjustHandles="1" noChangeArrowheads="1" noChangeShapeType="1"/>
          </p:cNvSpPr>
          <p:nvPr/>
        </p:nvSpPr>
        <p:spPr>
          <a:xfrm>
            <a:off x="17913970" y="9607673"/>
            <a:ext cx="21632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4</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C5382E12-FDAA-A430-23D8-D0ECEC30B357}"/>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313E2050-1CA7-1FA7-5563-5E58038254B9}"/>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TextBox 34">
            <a:extLst>
              <a:ext uri="{FF2B5EF4-FFF2-40B4-BE49-F238E27FC236}">
                <a16:creationId xmlns:a16="http://schemas.microsoft.com/office/drawing/2014/main" id="{2E241B0C-C75F-A063-2A28-864D5FE653AA}"/>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22" name="TextBox 35">
            <a:extLst>
              <a:ext uri="{FF2B5EF4-FFF2-40B4-BE49-F238E27FC236}">
                <a16:creationId xmlns:a16="http://schemas.microsoft.com/office/drawing/2014/main" id="{E0110DF8-1F31-6536-F3E9-335F6C1F30F0}"/>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23" name="TextBox 36">
            <a:extLst>
              <a:ext uri="{FF2B5EF4-FFF2-40B4-BE49-F238E27FC236}">
                <a16:creationId xmlns:a16="http://schemas.microsoft.com/office/drawing/2014/main" id="{0D5FA3C8-819D-1204-BCB9-21F0C29F9AE4}"/>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24" name="TextBox 39">
            <a:extLst>
              <a:ext uri="{FF2B5EF4-FFF2-40B4-BE49-F238E27FC236}">
                <a16:creationId xmlns:a16="http://schemas.microsoft.com/office/drawing/2014/main" id="{018C84EA-5AA1-D47B-4C4B-35A6D565B0B6}"/>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25" name="Freeform 45">
            <a:extLst>
              <a:ext uri="{FF2B5EF4-FFF2-40B4-BE49-F238E27FC236}">
                <a16:creationId xmlns:a16="http://schemas.microsoft.com/office/drawing/2014/main" id="{CB2098C0-FDFF-5FC6-9F5E-BFDCF267747A}"/>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6" name="Freeform 47">
            <a:extLst>
              <a:ext uri="{FF2B5EF4-FFF2-40B4-BE49-F238E27FC236}">
                <a16:creationId xmlns:a16="http://schemas.microsoft.com/office/drawing/2014/main" id="{66E3A85E-F7A8-5C99-A322-72815C3E6002}"/>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7" name="Freeform 22">
            <a:extLst>
              <a:ext uri="{FF2B5EF4-FFF2-40B4-BE49-F238E27FC236}">
                <a16:creationId xmlns:a16="http://schemas.microsoft.com/office/drawing/2014/main" id="{D696EC99-4ADE-1617-4CA4-92A3786E8911}"/>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8" name="Freeform 44">
            <a:extLst>
              <a:ext uri="{FF2B5EF4-FFF2-40B4-BE49-F238E27FC236}">
                <a16:creationId xmlns:a16="http://schemas.microsoft.com/office/drawing/2014/main" id="{5B1AB2ED-2746-CAD0-1BC1-56675BA902A3}"/>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9" name="TextBox 38">
            <a:extLst>
              <a:ext uri="{FF2B5EF4-FFF2-40B4-BE49-F238E27FC236}">
                <a16:creationId xmlns:a16="http://schemas.microsoft.com/office/drawing/2014/main" id="{71DF01EC-AE52-3AE6-F901-FCC6803170C2}"/>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30" name="Freeform 44">
            <a:extLst>
              <a:ext uri="{FF2B5EF4-FFF2-40B4-BE49-F238E27FC236}">
                <a16:creationId xmlns:a16="http://schemas.microsoft.com/office/drawing/2014/main" id="{C575DC09-384D-5523-2A52-2BB03233F961}"/>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1" name="TextBox 39">
            <a:extLst>
              <a:ext uri="{FF2B5EF4-FFF2-40B4-BE49-F238E27FC236}">
                <a16:creationId xmlns:a16="http://schemas.microsoft.com/office/drawing/2014/main" id="{C00FB073-D938-214D-514C-E9AF41F301E0}"/>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32" name="AutoShape 20">
            <a:extLst>
              <a:ext uri="{FF2B5EF4-FFF2-40B4-BE49-F238E27FC236}">
                <a16:creationId xmlns:a16="http://schemas.microsoft.com/office/drawing/2014/main" id="{28266000-2085-9202-1664-8142DB21DF35}"/>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33" name="Freeform 21">
            <a:extLst>
              <a:ext uri="{FF2B5EF4-FFF2-40B4-BE49-F238E27FC236}">
                <a16:creationId xmlns:a16="http://schemas.microsoft.com/office/drawing/2014/main" id="{28569E62-2893-A905-4E2E-AF4799DDFF5D}"/>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4" name="TextBox 40">
            <a:extLst>
              <a:ext uri="{FF2B5EF4-FFF2-40B4-BE49-F238E27FC236}">
                <a16:creationId xmlns:a16="http://schemas.microsoft.com/office/drawing/2014/main" id="{7DB27EC4-B87D-1546-176D-0EB7B5894E20}"/>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35" name="TextBox 42">
            <a:extLst>
              <a:ext uri="{FF2B5EF4-FFF2-40B4-BE49-F238E27FC236}">
                <a16:creationId xmlns:a16="http://schemas.microsoft.com/office/drawing/2014/main" id="{2304EC1E-5D12-3C1E-272E-EC3B4AB8ED71}"/>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36" name="Freeform 21">
            <a:extLst>
              <a:ext uri="{FF2B5EF4-FFF2-40B4-BE49-F238E27FC236}">
                <a16:creationId xmlns:a16="http://schemas.microsoft.com/office/drawing/2014/main" id="{4D8B41B4-6FBC-E55E-EEA8-F1D492D167EB}"/>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7" name="Freeform 22">
            <a:extLst>
              <a:ext uri="{FF2B5EF4-FFF2-40B4-BE49-F238E27FC236}">
                <a16:creationId xmlns:a16="http://schemas.microsoft.com/office/drawing/2014/main" id="{EFC2C029-FAF3-1723-B367-2583474FEF2A}"/>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8" name="Freeform 21">
            <a:extLst>
              <a:ext uri="{FF2B5EF4-FFF2-40B4-BE49-F238E27FC236}">
                <a16:creationId xmlns:a16="http://schemas.microsoft.com/office/drawing/2014/main" id="{5440B6D5-5513-23C6-63C0-A6CCED49AF7E}"/>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E2C957EE-1ABA-9B22-B690-F426912DEF84}"/>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07A2FB46-36C9-3098-8822-A49F05A3DAF1}"/>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C0E9C964-6CF9-5530-41B9-3420F1FDF22B}"/>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B09DF98F-E966-2366-AA16-931BF40F68BA}"/>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753E7DFF-E4ED-44A7-258C-7396063AEA4A}"/>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45E57173-31A5-4A3C-6330-834660FE46FC}"/>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B9F45E95-FE72-7693-3CB6-5A8CC29BBA0D}"/>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705A8238-9AB1-854F-3E86-1C15BAF343DE}"/>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B514D518-A186-0F70-487D-1B8DA73980FE}"/>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E602A245-C907-DBF2-37A0-D7DDA2742655}"/>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0" name="Freeform 22">
            <a:extLst>
              <a:ext uri="{FF2B5EF4-FFF2-40B4-BE49-F238E27FC236}">
                <a16:creationId xmlns:a16="http://schemas.microsoft.com/office/drawing/2014/main" id="{B779AACD-A66C-F7B1-42C9-8B62191A6FEE}"/>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1" name="Freeform 21">
            <a:extLst>
              <a:ext uri="{FF2B5EF4-FFF2-40B4-BE49-F238E27FC236}">
                <a16:creationId xmlns:a16="http://schemas.microsoft.com/office/drawing/2014/main" id="{7D27727D-9545-BACC-C245-7C0C2BD5BBA1}"/>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DD499B13-20E5-9302-CF86-756362A8A8BA}"/>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4" name="Freeform 22">
            <a:extLst>
              <a:ext uri="{FF2B5EF4-FFF2-40B4-BE49-F238E27FC236}">
                <a16:creationId xmlns:a16="http://schemas.microsoft.com/office/drawing/2014/main" id="{098F2827-80C6-EC45-3121-F4371CEDAF59}"/>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5" name="TextBox 34">
            <a:extLst>
              <a:ext uri="{FF2B5EF4-FFF2-40B4-BE49-F238E27FC236}">
                <a16:creationId xmlns:a16="http://schemas.microsoft.com/office/drawing/2014/main" id="{44023696-DB95-399F-E7FB-ED446EC1C3F4}"/>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56" name="Freeform 97">
            <a:extLst>
              <a:ext uri="{FF2B5EF4-FFF2-40B4-BE49-F238E27FC236}">
                <a16:creationId xmlns:a16="http://schemas.microsoft.com/office/drawing/2014/main" id="{2AFB5F94-F69D-8DBA-B88F-9ECE32EDB251}"/>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57" name="Freeform 97">
            <a:extLst>
              <a:ext uri="{FF2B5EF4-FFF2-40B4-BE49-F238E27FC236}">
                <a16:creationId xmlns:a16="http://schemas.microsoft.com/office/drawing/2014/main" id="{0AC53CE2-4D00-1E5E-193B-30FAF61E4CF3}"/>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83" name="TextBox 8">
            <a:extLst>
              <a:ext uri="{FF2B5EF4-FFF2-40B4-BE49-F238E27FC236}">
                <a16:creationId xmlns:a16="http://schemas.microsoft.com/office/drawing/2014/main" id="{455CDBA8-C9F4-A08F-9E18-0DFFE0719247}"/>
              </a:ext>
            </a:extLst>
          </p:cNvPr>
          <p:cNvSpPr txBox="1"/>
          <p:nvPr/>
        </p:nvSpPr>
        <p:spPr>
          <a:xfrm>
            <a:off x="4790890" y="290085"/>
            <a:ext cx="8706220"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RAKİP ANALİZİ</a:t>
            </a:r>
            <a:r>
              <a:rPr lang="tr-TR" sz="6399" dirty="0">
                <a:solidFill>
                  <a:srgbClr val="1A426A"/>
                </a:solidFill>
                <a:latin typeface="Active Heart"/>
              </a:rPr>
              <a:t> (0-10 Puan)</a:t>
            </a:r>
            <a:endParaRPr lang="en-US" sz="6399" dirty="0">
              <a:solidFill>
                <a:srgbClr val="1A426A"/>
              </a:solidFill>
              <a:latin typeface="Active Heart"/>
            </a:endParaRPr>
          </a:p>
        </p:txBody>
      </p:sp>
      <p:sp>
        <p:nvSpPr>
          <p:cNvPr id="84" name="TextBox 115">
            <a:extLst>
              <a:ext uri="{FF2B5EF4-FFF2-40B4-BE49-F238E27FC236}">
                <a16:creationId xmlns:a16="http://schemas.microsoft.com/office/drawing/2014/main" id="{B4CDA7FC-DFFA-5C0B-C8CE-A3668D22EF92}"/>
              </a:ext>
            </a:extLst>
          </p:cNvPr>
          <p:cNvSpPr txBox="1"/>
          <p:nvPr/>
        </p:nvSpPr>
        <p:spPr>
          <a:xfrm>
            <a:off x="882672" y="1740605"/>
            <a:ext cx="13521576" cy="1538883"/>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Pazardaki birincil ve/veya ikincil rakiplerin, takımın ürünü/hizmeti ile karşılaştırıldığı bir tablo ile görselleştirilmesi gerekmektedir.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Rakipler hakkında analiz yapılarak projenin yenilikçi yönü hakkında bilgi verilmeli, projeyi, piyasada bulunan benzer ürünlerden ayıran özelliklerin neler olduğu belirtilmelidir. </a:t>
            </a:r>
          </a:p>
        </p:txBody>
      </p:sp>
      <p:sp>
        <p:nvSpPr>
          <p:cNvPr id="86" name="Freeform 22">
            <a:extLst>
              <a:ext uri="{FF2B5EF4-FFF2-40B4-BE49-F238E27FC236}">
                <a16:creationId xmlns:a16="http://schemas.microsoft.com/office/drawing/2014/main" id="{C052053F-9F26-AACC-00FC-A62B177DBD3A}"/>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A36ECC49-85E9-FDC1-445D-D72A4790BFFA}"/>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10"/>
          <p:cNvSpPr txBox="1">
            <a:spLocks noGrp="1" noRot="1" noMove="1" noResize="1" noEditPoints="1" noAdjustHandles="1" noChangeArrowheads="1" noChangeShapeType="1"/>
          </p:cNvSpPr>
          <p:nvPr/>
        </p:nvSpPr>
        <p:spPr>
          <a:xfrm>
            <a:off x="17912028" y="9607673"/>
            <a:ext cx="220206"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5</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022C96BC-640C-FD39-4F21-010BA639C37E}"/>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EAE8940E-A4B2-C07C-6CB9-BFE5351D69DD}"/>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TextBox 34">
            <a:extLst>
              <a:ext uri="{FF2B5EF4-FFF2-40B4-BE49-F238E27FC236}">
                <a16:creationId xmlns:a16="http://schemas.microsoft.com/office/drawing/2014/main" id="{BF381747-4A56-2AAA-B316-9029A8FA76F7}"/>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63" name="TextBox 35">
            <a:extLst>
              <a:ext uri="{FF2B5EF4-FFF2-40B4-BE49-F238E27FC236}">
                <a16:creationId xmlns:a16="http://schemas.microsoft.com/office/drawing/2014/main" id="{A0295997-1DCD-C6F8-3DCA-AA9CDAC3117B}"/>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64" name="TextBox 36">
            <a:extLst>
              <a:ext uri="{FF2B5EF4-FFF2-40B4-BE49-F238E27FC236}">
                <a16:creationId xmlns:a16="http://schemas.microsoft.com/office/drawing/2014/main" id="{7BAF032C-21A6-6372-D726-C5E8C171D683}"/>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65" name="TextBox 39">
            <a:extLst>
              <a:ext uri="{FF2B5EF4-FFF2-40B4-BE49-F238E27FC236}">
                <a16:creationId xmlns:a16="http://schemas.microsoft.com/office/drawing/2014/main" id="{63C08FEA-D271-BC9A-C40D-EA3149F49B27}"/>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66" name="Freeform 45">
            <a:extLst>
              <a:ext uri="{FF2B5EF4-FFF2-40B4-BE49-F238E27FC236}">
                <a16:creationId xmlns:a16="http://schemas.microsoft.com/office/drawing/2014/main" id="{9EA25303-7C2D-C95B-DDFD-D42AC8F56BE2}"/>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7" name="Freeform 47">
            <a:extLst>
              <a:ext uri="{FF2B5EF4-FFF2-40B4-BE49-F238E27FC236}">
                <a16:creationId xmlns:a16="http://schemas.microsoft.com/office/drawing/2014/main" id="{8AD4A03A-0672-70BE-77A6-971EA25DAA14}"/>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8" name="Freeform 22">
            <a:extLst>
              <a:ext uri="{FF2B5EF4-FFF2-40B4-BE49-F238E27FC236}">
                <a16:creationId xmlns:a16="http://schemas.microsoft.com/office/drawing/2014/main" id="{8E3EBF6F-1850-6DA6-83BA-FC35F9BD07C5}"/>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9" name="Freeform 44">
            <a:extLst>
              <a:ext uri="{FF2B5EF4-FFF2-40B4-BE49-F238E27FC236}">
                <a16:creationId xmlns:a16="http://schemas.microsoft.com/office/drawing/2014/main" id="{DD0D42EA-9F73-77F2-5A60-896888FBDCC0}"/>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0" name="TextBox 38">
            <a:extLst>
              <a:ext uri="{FF2B5EF4-FFF2-40B4-BE49-F238E27FC236}">
                <a16:creationId xmlns:a16="http://schemas.microsoft.com/office/drawing/2014/main" id="{37CCE9AD-9DC6-B7AD-C531-F965053CEE57}"/>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71" name="Freeform 44">
            <a:extLst>
              <a:ext uri="{FF2B5EF4-FFF2-40B4-BE49-F238E27FC236}">
                <a16:creationId xmlns:a16="http://schemas.microsoft.com/office/drawing/2014/main" id="{89ED5F3E-693A-C1D1-EF45-BB659DF6F533}"/>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2" name="TextBox 39">
            <a:extLst>
              <a:ext uri="{FF2B5EF4-FFF2-40B4-BE49-F238E27FC236}">
                <a16:creationId xmlns:a16="http://schemas.microsoft.com/office/drawing/2014/main" id="{C84DA36D-0145-F2D6-8C02-9107CF8250D4}"/>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73" name="AutoShape 20">
            <a:extLst>
              <a:ext uri="{FF2B5EF4-FFF2-40B4-BE49-F238E27FC236}">
                <a16:creationId xmlns:a16="http://schemas.microsoft.com/office/drawing/2014/main" id="{AA95854B-406F-23A5-A1B9-97A4918B94C7}"/>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74" name="Freeform 21">
            <a:extLst>
              <a:ext uri="{FF2B5EF4-FFF2-40B4-BE49-F238E27FC236}">
                <a16:creationId xmlns:a16="http://schemas.microsoft.com/office/drawing/2014/main" id="{52E0F834-83D6-74E1-16B3-9A93705C477B}"/>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5" name="TextBox 40">
            <a:extLst>
              <a:ext uri="{FF2B5EF4-FFF2-40B4-BE49-F238E27FC236}">
                <a16:creationId xmlns:a16="http://schemas.microsoft.com/office/drawing/2014/main" id="{3ACB3522-80CF-5266-D7D3-350F50C43DE1}"/>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76" name="TextBox 42">
            <a:extLst>
              <a:ext uri="{FF2B5EF4-FFF2-40B4-BE49-F238E27FC236}">
                <a16:creationId xmlns:a16="http://schemas.microsoft.com/office/drawing/2014/main" id="{EB00A260-F683-7ECB-2BAB-EA62AD520990}"/>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7" name="Freeform 21">
            <a:extLst>
              <a:ext uri="{FF2B5EF4-FFF2-40B4-BE49-F238E27FC236}">
                <a16:creationId xmlns:a16="http://schemas.microsoft.com/office/drawing/2014/main" id="{AB2F1C3B-DE5B-1595-0F93-781F261BDD1A}"/>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8" name="Freeform 22">
            <a:extLst>
              <a:ext uri="{FF2B5EF4-FFF2-40B4-BE49-F238E27FC236}">
                <a16:creationId xmlns:a16="http://schemas.microsoft.com/office/drawing/2014/main" id="{1441D8C2-2030-EAF4-6CF5-64169E22098A}"/>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9" name="Freeform 21">
            <a:extLst>
              <a:ext uri="{FF2B5EF4-FFF2-40B4-BE49-F238E27FC236}">
                <a16:creationId xmlns:a16="http://schemas.microsoft.com/office/drawing/2014/main" id="{B1FF60B0-B177-4F38-2A35-3B8666A6D828}"/>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0" name="Freeform 22">
            <a:extLst>
              <a:ext uri="{FF2B5EF4-FFF2-40B4-BE49-F238E27FC236}">
                <a16:creationId xmlns:a16="http://schemas.microsoft.com/office/drawing/2014/main" id="{D2805D4A-8B92-F2B1-624B-6077C6DF1B5A}"/>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2" name="Freeform 21">
            <a:extLst>
              <a:ext uri="{FF2B5EF4-FFF2-40B4-BE49-F238E27FC236}">
                <a16:creationId xmlns:a16="http://schemas.microsoft.com/office/drawing/2014/main" id="{5F75A199-8BBB-37FF-357A-1441C1273CC9}"/>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3" name="Freeform 22">
            <a:extLst>
              <a:ext uri="{FF2B5EF4-FFF2-40B4-BE49-F238E27FC236}">
                <a16:creationId xmlns:a16="http://schemas.microsoft.com/office/drawing/2014/main" id="{253E34B8-B012-3F8B-D07F-2AE29278A4D4}"/>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4" name="Freeform 21">
            <a:extLst>
              <a:ext uri="{FF2B5EF4-FFF2-40B4-BE49-F238E27FC236}">
                <a16:creationId xmlns:a16="http://schemas.microsoft.com/office/drawing/2014/main" id="{E1D8212B-5F2C-75C6-1AA4-1A974F58FD9A}"/>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6" name="Freeform 21">
            <a:extLst>
              <a:ext uri="{FF2B5EF4-FFF2-40B4-BE49-F238E27FC236}">
                <a16:creationId xmlns:a16="http://schemas.microsoft.com/office/drawing/2014/main" id="{6B35ECC3-D304-F006-BB5D-C505519A60B7}"/>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7" name="Freeform 22">
            <a:extLst>
              <a:ext uri="{FF2B5EF4-FFF2-40B4-BE49-F238E27FC236}">
                <a16:creationId xmlns:a16="http://schemas.microsoft.com/office/drawing/2014/main" id="{C7D16CE3-6195-F2A9-E531-C730B931551F}"/>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8" name="Freeform 21">
            <a:extLst>
              <a:ext uri="{FF2B5EF4-FFF2-40B4-BE49-F238E27FC236}">
                <a16:creationId xmlns:a16="http://schemas.microsoft.com/office/drawing/2014/main" id="{3CD8034A-16C9-A79A-8EE9-68DCF2AEA57E}"/>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9" name="Freeform 22">
            <a:extLst>
              <a:ext uri="{FF2B5EF4-FFF2-40B4-BE49-F238E27FC236}">
                <a16:creationId xmlns:a16="http://schemas.microsoft.com/office/drawing/2014/main" id="{D4B3EFE6-9CF3-DB98-5C8E-3771C0305059}"/>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0" name="Freeform 21">
            <a:extLst>
              <a:ext uri="{FF2B5EF4-FFF2-40B4-BE49-F238E27FC236}">
                <a16:creationId xmlns:a16="http://schemas.microsoft.com/office/drawing/2014/main" id="{98719B4E-AC8F-FA53-6DFF-654588BF3617}"/>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1" name="Freeform 22">
            <a:extLst>
              <a:ext uri="{FF2B5EF4-FFF2-40B4-BE49-F238E27FC236}">
                <a16:creationId xmlns:a16="http://schemas.microsoft.com/office/drawing/2014/main" id="{1E6F5ACD-A55A-E6C9-B8F5-79B66BB7C20D}"/>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2" name="Freeform 22">
            <a:extLst>
              <a:ext uri="{FF2B5EF4-FFF2-40B4-BE49-F238E27FC236}">
                <a16:creationId xmlns:a16="http://schemas.microsoft.com/office/drawing/2014/main" id="{A450AA77-FEB5-45CD-D038-EC1E09FE17F4}"/>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21">
            <a:extLst>
              <a:ext uri="{FF2B5EF4-FFF2-40B4-BE49-F238E27FC236}">
                <a16:creationId xmlns:a16="http://schemas.microsoft.com/office/drawing/2014/main" id="{47BF7130-42B6-8190-0726-ADF7D30E88D8}"/>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4" name="Freeform 22">
            <a:extLst>
              <a:ext uri="{FF2B5EF4-FFF2-40B4-BE49-F238E27FC236}">
                <a16:creationId xmlns:a16="http://schemas.microsoft.com/office/drawing/2014/main" id="{6A38328A-5A35-476E-D3D6-A56F43D24EE9}"/>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5" name="Freeform 22">
            <a:extLst>
              <a:ext uri="{FF2B5EF4-FFF2-40B4-BE49-F238E27FC236}">
                <a16:creationId xmlns:a16="http://schemas.microsoft.com/office/drawing/2014/main" id="{789B1147-1E57-FDE1-97F9-1EE2AB834449}"/>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6" name="TextBox 34">
            <a:extLst>
              <a:ext uri="{FF2B5EF4-FFF2-40B4-BE49-F238E27FC236}">
                <a16:creationId xmlns:a16="http://schemas.microsoft.com/office/drawing/2014/main" id="{81E76D76-8633-DA35-BB1D-17D97F5B358B}"/>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97" name="Freeform 97">
            <a:extLst>
              <a:ext uri="{FF2B5EF4-FFF2-40B4-BE49-F238E27FC236}">
                <a16:creationId xmlns:a16="http://schemas.microsoft.com/office/drawing/2014/main" id="{07A0C002-26A7-2406-44F0-B1413A5ED083}"/>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8" name="Freeform 97">
            <a:extLst>
              <a:ext uri="{FF2B5EF4-FFF2-40B4-BE49-F238E27FC236}">
                <a16:creationId xmlns:a16="http://schemas.microsoft.com/office/drawing/2014/main" id="{FEDDB1DC-7E61-BDB7-91A9-AB4F3EEEDC92}"/>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TextBox 8">
            <a:extLst>
              <a:ext uri="{FF2B5EF4-FFF2-40B4-BE49-F238E27FC236}">
                <a16:creationId xmlns:a16="http://schemas.microsoft.com/office/drawing/2014/main" id="{6E599002-7FDE-611D-F547-5E40031FA9BD}"/>
              </a:ext>
            </a:extLst>
          </p:cNvPr>
          <p:cNvSpPr txBox="1"/>
          <p:nvPr/>
        </p:nvSpPr>
        <p:spPr>
          <a:xfrm>
            <a:off x="5931158" y="266700"/>
            <a:ext cx="6425684"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PAZAR</a:t>
            </a:r>
            <a:r>
              <a:rPr lang="tr-TR" sz="6399" dirty="0">
                <a:solidFill>
                  <a:srgbClr val="1A426A"/>
                </a:solidFill>
                <a:latin typeface="Active Heart"/>
              </a:rPr>
              <a:t> (0-10 Puan)</a:t>
            </a:r>
            <a:endParaRPr lang="en-US" sz="6399" dirty="0">
              <a:solidFill>
                <a:srgbClr val="1A426A"/>
              </a:solidFill>
              <a:latin typeface="Active Heart"/>
            </a:endParaRPr>
          </a:p>
        </p:txBody>
      </p:sp>
      <p:sp>
        <p:nvSpPr>
          <p:cNvPr id="100" name="TextBox 115">
            <a:extLst>
              <a:ext uri="{FF2B5EF4-FFF2-40B4-BE49-F238E27FC236}">
                <a16:creationId xmlns:a16="http://schemas.microsoft.com/office/drawing/2014/main" id="{2B8DDFDE-D18B-35EC-2A9D-E1CEBF581348}"/>
              </a:ext>
            </a:extLst>
          </p:cNvPr>
          <p:cNvSpPr txBox="1"/>
          <p:nvPr/>
        </p:nvSpPr>
        <p:spPr>
          <a:xfrm>
            <a:off x="882672" y="1740605"/>
            <a:ext cx="13521576" cy="830997"/>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Ürün/hizmet için mevcut veya potansiyel müşterilerin pazar büyüklüğü ifade edilmelidir. Bu sayfada toplam pazar büyüklüğü (tam), ulaşılabilir pazar büyüklüğü (sam) ve elde edilebilir pazar (som) olmak üzere üç başlıkta pazar analizinin açıklanması beklenir.</a:t>
            </a:r>
          </a:p>
        </p:txBody>
      </p:sp>
      <p:sp>
        <p:nvSpPr>
          <p:cNvPr id="102" name="Freeform 22">
            <a:extLst>
              <a:ext uri="{FF2B5EF4-FFF2-40B4-BE49-F238E27FC236}">
                <a16:creationId xmlns:a16="http://schemas.microsoft.com/office/drawing/2014/main" id="{93950694-CA80-3639-5496-E40EC84313C8}"/>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AE97AB94-90B7-2C6A-4A09-A894C4E46449}"/>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9E45456-7C11-0E05-EF14-C7A8C8C63C56}"/>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18BBD2F8-E9E9-6917-BF76-F61547F2D047}"/>
              </a:ext>
            </a:extLst>
          </p:cNvPr>
          <p:cNvSpPr txBox="1">
            <a:spLocks noGrp="1" noRot="1" noMove="1" noResize="1" noEditPoints="1" noAdjustHandles="1" noChangeArrowheads="1" noChangeShapeType="1"/>
          </p:cNvSpPr>
          <p:nvPr/>
        </p:nvSpPr>
        <p:spPr>
          <a:xfrm>
            <a:off x="17912028" y="9607673"/>
            <a:ext cx="220206"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6</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FF4D5C44-6FA0-522A-07B4-00062FAB2D45}"/>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161735C8-DC0B-EB86-47C7-EC165E4CA6AE}"/>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TextBox 34">
            <a:extLst>
              <a:ext uri="{FF2B5EF4-FFF2-40B4-BE49-F238E27FC236}">
                <a16:creationId xmlns:a16="http://schemas.microsoft.com/office/drawing/2014/main" id="{9A045864-8F45-ED1E-1C0E-338C22F2F585}"/>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22" name="TextBox 35">
            <a:extLst>
              <a:ext uri="{FF2B5EF4-FFF2-40B4-BE49-F238E27FC236}">
                <a16:creationId xmlns:a16="http://schemas.microsoft.com/office/drawing/2014/main" id="{A057BE19-25B0-9A41-5100-232FF1143127}"/>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23" name="TextBox 36">
            <a:extLst>
              <a:ext uri="{FF2B5EF4-FFF2-40B4-BE49-F238E27FC236}">
                <a16:creationId xmlns:a16="http://schemas.microsoft.com/office/drawing/2014/main" id="{DF3BD91B-2625-6C40-1B9E-71D3C52A0CF3}"/>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24" name="TextBox 39">
            <a:extLst>
              <a:ext uri="{FF2B5EF4-FFF2-40B4-BE49-F238E27FC236}">
                <a16:creationId xmlns:a16="http://schemas.microsoft.com/office/drawing/2014/main" id="{4B132239-73BD-A8EA-BAA5-010DE027B5B0}"/>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25" name="Freeform 45">
            <a:extLst>
              <a:ext uri="{FF2B5EF4-FFF2-40B4-BE49-F238E27FC236}">
                <a16:creationId xmlns:a16="http://schemas.microsoft.com/office/drawing/2014/main" id="{D40A82FF-AF99-C891-7D1D-CB4E1FCA57BA}"/>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6" name="Freeform 47">
            <a:extLst>
              <a:ext uri="{FF2B5EF4-FFF2-40B4-BE49-F238E27FC236}">
                <a16:creationId xmlns:a16="http://schemas.microsoft.com/office/drawing/2014/main" id="{1202ED53-BE37-0807-6113-0EA70A5B4C94}"/>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7" name="Freeform 22">
            <a:extLst>
              <a:ext uri="{FF2B5EF4-FFF2-40B4-BE49-F238E27FC236}">
                <a16:creationId xmlns:a16="http://schemas.microsoft.com/office/drawing/2014/main" id="{610AEB52-0E51-4103-299C-1E3D683A2144}"/>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8" name="Freeform 44">
            <a:extLst>
              <a:ext uri="{FF2B5EF4-FFF2-40B4-BE49-F238E27FC236}">
                <a16:creationId xmlns:a16="http://schemas.microsoft.com/office/drawing/2014/main" id="{12F86C24-80AD-3A12-0E7D-5A095D0D036E}"/>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9" name="TextBox 38">
            <a:extLst>
              <a:ext uri="{FF2B5EF4-FFF2-40B4-BE49-F238E27FC236}">
                <a16:creationId xmlns:a16="http://schemas.microsoft.com/office/drawing/2014/main" id="{25D5926E-E9B7-70D9-6F38-B94A19AFBB0F}"/>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30" name="Freeform 44">
            <a:extLst>
              <a:ext uri="{FF2B5EF4-FFF2-40B4-BE49-F238E27FC236}">
                <a16:creationId xmlns:a16="http://schemas.microsoft.com/office/drawing/2014/main" id="{0C995A80-A398-837B-C4C7-78255970228B}"/>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1" name="TextBox 39">
            <a:extLst>
              <a:ext uri="{FF2B5EF4-FFF2-40B4-BE49-F238E27FC236}">
                <a16:creationId xmlns:a16="http://schemas.microsoft.com/office/drawing/2014/main" id="{FA42C74D-84AB-83E8-2FFA-711590723008}"/>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32" name="AutoShape 20">
            <a:extLst>
              <a:ext uri="{FF2B5EF4-FFF2-40B4-BE49-F238E27FC236}">
                <a16:creationId xmlns:a16="http://schemas.microsoft.com/office/drawing/2014/main" id="{F725C356-F89E-072A-1FC1-F27002D80A91}"/>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33" name="Freeform 21">
            <a:extLst>
              <a:ext uri="{FF2B5EF4-FFF2-40B4-BE49-F238E27FC236}">
                <a16:creationId xmlns:a16="http://schemas.microsoft.com/office/drawing/2014/main" id="{4F2D2183-241B-0320-117B-110E6DCB3423}"/>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4" name="TextBox 40">
            <a:extLst>
              <a:ext uri="{FF2B5EF4-FFF2-40B4-BE49-F238E27FC236}">
                <a16:creationId xmlns:a16="http://schemas.microsoft.com/office/drawing/2014/main" id="{B2355F3E-0C4A-E502-1BAB-0648A218EFEC}"/>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35" name="TextBox 42">
            <a:extLst>
              <a:ext uri="{FF2B5EF4-FFF2-40B4-BE49-F238E27FC236}">
                <a16:creationId xmlns:a16="http://schemas.microsoft.com/office/drawing/2014/main" id="{C7811E6B-D5D0-1E09-643D-D52B89393ADF}"/>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36" name="Freeform 21">
            <a:extLst>
              <a:ext uri="{FF2B5EF4-FFF2-40B4-BE49-F238E27FC236}">
                <a16:creationId xmlns:a16="http://schemas.microsoft.com/office/drawing/2014/main" id="{69EF3234-0172-5D27-4EDD-AC3535C43004}"/>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7" name="Freeform 22">
            <a:extLst>
              <a:ext uri="{FF2B5EF4-FFF2-40B4-BE49-F238E27FC236}">
                <a16:creationId xmlns:a16="http://schemas.microsoft.com/office/drawing/2014/main" id="{EECEB2BE-E8E9-7C80-F8F3-0F856D0303B7}"/>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38" name="Freeform 21">
            <a:extLst>
              <a:ext uri="{FF2B5EF4-FFF2-40B4-BE49-F238E27FC236}">
                <a16:creationId xmlns:a16="http://schemas.microsoft.com/office/drawing/2014/main" id="{A556FB19-958B-5275-7170-E5A14E400B3B}"/>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532AE05C-14A1-577D-7756-9D8D7E4A472C}"/>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4339436D-B6E9-C858-E890-58AB66B808B9}"/>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4F61DEBA-B6FA-7A71-9925-89012A2A897F}"/>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6E5853EB-81DF-1495-4EAF-B29006E18F2C}"/>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E7B15EF4-7F6D-5FDB-2539-A46A2EA835D3}"/>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C71CBCC0-E3BC-9EA0-128E-23951FEE464A}"/>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57A717FA-2AFD-E975-2AFB-8EE86CBFE8DB}"/>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281826C3-7A38-1C7C-51C8-131CF4068189}"/>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5A19126A-961A-A70D-F29F-42F2D9009217}"/>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C7CCCA35-7609-65C0-8BDE-0984089A8192}"/>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035721F5-450E-848F-9C56-6563A3A63B10}"/>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8338AA38-F068-8C98-44E7-64F77207665A}"/>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57" name="Freeform 22">
            <a:extLst>
              <a:ext uri="{FF2B5EF4-FFF2-40B4-BE49-F238E27FC236}">
                <a16:creationId xmlns:a16="http://schemas.microsoft.com/office/drawing/2014/main" id="{BC8CFE6D-3391-4F4A-14C7-A8C9097F939A}"/>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8" name="Freeform 22">
            <a:extLst>
              <a:ext uri="{FF2B5EF4-FFF2-40B4-BE49-F238E27FC236}">
                <a16:creationId xmlns:a16="http://schemas.microsoft.com/office/drawing/2014/main" id="{A5948984-331F-5091-E2F6-58C6B2889C83}"/>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9" name="TextBox 34">
            <a:extLst>
              <a:ext uri="{FF2B5EF4-FFF2-40B4-BE49-F238E27FC236}">
                <a16:creationId xmlns:a16="http://schemas.microsoft.com/office/drawing/2014/main" id="{E035FA92-88DC-A056-DC42-7D62EBA7BF30}"/>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80" name="Freeform 97">
            <a:extLst>
              <a:ext uri="{FF2B5EF4-FFF2-40B4-BE49-F238E27FC236}">
                <a16:creationId xmlns:a16="http://schemas.microsoft.com/office/drawing/2014/main" id="{5A020AFC-41C2-CB47-3ED3-C2F3591DB181}"/>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82" name="Freeform 97">
            <a:extLst>
              <a:ext uri="{FF2B5EF4-FFF2-40B4-BE49-F238E27FC236}">
                <a16:creationId xmlns:a16="http://schemas.microsoft.com/office/drawing/2014/main" id="{D0CC520E-542F-2FAF-4333-441196FC7269}"/>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83" name="TextBox 8">
            <a:extLst>
              <a:ext uri="{FF2B5EF4-FFF2-40B4-BE49-F238E27FC236}">
                <a16:creationId xmlns:a16="http://schemas.microsoft.com/office/drawing/2014/main" id="{2CB42997-2668-5648-9181-7CB2EC098926}"/>
              </a:ext>
            </a:extLst>
          </p:cNvPr>
          <p:cNvSpPr txBox="1"/>
          <p:nvPr/>
        </p:nvSpPr>
        <p:spPr>
          <a:xfrm>
            <a:off x="5458126" y="286242"/>
            <a:ext cx="7371749"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İŞ MODELİ</a:t>
            </a:r>
            <a:r>
              <a:rPr lang="tr-TR" sz="6399" dirty="0">
                <a:solidFill>
                  <a:srgbClr val="1A426A"/>
                </a:solidFill>
                <a:latin typeface="Active Heart"/>
              </a:rPr>
              <a:t> (0-15 Puan)</a:t>
            </a:r>
            <a:endParaRPr lang="en-US" sz="6399" dirty="0">
              <a:solidFill>
                <a:srgbClr val="1A426A"/>
              </a:solidFill>
              <a:latin typeface="Active Heart"/>
            </a:endParaRPr>
          </a:p>
        </p:txBody>
      </p:sp>
      <p:sp>
        <p:nvSpPr>
          <p:cNvPr id="84" name="TextBox 115">
            <a:extLst>
              <a:ext uri="{FF2B5EF4-FFF2-40B4-BE49-F238E27FC236}">
                <a16:creationId xmlns:a16="http://schemas.microsoft.com/office/drawing/2014/main" id="{C75963E2-32A7-7308-85F1-D4106BBDEE47}"/>
              </a:ext>
            </a:extLst>
          </p:cNvPr>
          <p:cNvSpPr txBox="1"/>
          <p:nvPr/>
        </p:nvSpPr>
        <p:spPr>
          <a:xfrm>
            <a:off x="882672" y="1740605"/>
            <a:ext cx="13521576" cy="1969770"/>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Mevcut şartlarda projenin ticari bir ürüne dönüştürülebilir olup olmadığı açıklanmalıdır.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Ürünün/hizmetin hedeflenen pazarda nasıl tanıtılacağı, hedef müşterilerin kim olduğu ve satışların nasıl gerçekleştirileceği açıklanmalıdır. </a:t>
            </a:r>
          </a:p>
          <a:p>
            <a:pPr algn="just">
              <a:spcAft>
                <a:spcPts val="600"/>
              </a:spcAft>
            </a:pPr>
            <a:endPar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endParaRPr>
          </a:p>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Projenin gelir modeli açıklanmalıdır. </a:t>
            </a:r>
          </a:p>
        </p:txBody>
      </p:sp>
      <p:sp>
        <p:nvSpPr>
          <p:cNvPr id="86" name="Freeform 22">
            <a:extLst>
              <a:ext uri="{FF2B5EF4-FFF2-40B4-BE49-F238E27FC236}">
                <a16:creationId xmlns:a16="http://schemas.microsoft.com/office/drawing/2014/main" id="{5F844B89-2892-42A6-C42B-88CFB01A6EE9}"/>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B16653EB-9930-0ADB-19EE-3E08A30BF351}"/>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extLst>
      <p:ext uri="{BB962C8B-B14F-4D97-AF65-F5344CB8AC3E}">
        <p14:creationId xmlns:p14="http://schemas.microsoft.com/office/powerpoint/2010/main" val="173187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2300F38-0F05-D8E2-06C1-94DF205D531A}"/>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F078CA0D-8326-3604-E69F-8E63E704CFF7}"/>
              </a:ext>
            </a:extLst>
          </p:cNvPr>
          <p:cNvSpPr txBox="1">
            <a:spLocks noGrp="1" noRot="1" noMove="1" noResize="1" noEditPoints="1" noAdjustHandles="1" noChangeArrowheads="1" noChangeShapeType="1"/>
          </p:cNvSpPr>
          <p:nvPr/>
        </p:nvSpPr>
        <p:spPr>
          <a:xfrm>
            <a:off x="17911760" y="9607673"/>
            <a:ext cx="22074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7</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A55028BF-FE2C-65B4-EF4D-C739D441D6DF}"/>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CB3A45E7-C177-C030-6968-268DE6EE1922}"/>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TextBox 34">
            <a:extLst>
              <a:ext uri="{FF2B5EF4-FFF2-40B4-BE49-F238E27FC236}">
                <a16:creationId xmlns:a16="http://schemas.microsoft.com/office/drawing/2014/main" id="{D46BF64D-82ED-3721-4130-507B584EA377}"/>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63" name="TextBox 35">
            <a:extLst>
              <a:ext uri="{FF2B5EF4-FFF2-40B4-BE49-F238E27FC236}">
                <a16:creationId xmlns:a16="http://schemas.microsoft.com/office/drawing/2014/main" id="{FFDAD5D2-A0A6-4D9B-4D87-EEE7727FADC1}"/>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64" name="TextBox 36">
            <a:extLst>
              <a:ext uri="{FF2B5EF4-FFF2-40B4-BE49-F238E27FC236}">
                <a16:creationId xmlns:a16="http://schemas.microsoft.com/office/drawing/2014/main" id="{CA1DAE6C-D020-7E21-2CCD-F47FBA611B1F}"/>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65" name="TextBox 39">
            <a:extLst>
              <a:ext uri="{FF2B5EF4-FFF2-40B4-BE49-F238E27FC236}">
                <a16:creationId xmlns:a16="http://schemas.microsoft.com/office/drawing/2014/main" id="{3BF824CF-FA0A-C94A-27EA-8AA4555CDC0F}"/>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66" name="Freeform 45">
            <a:extLst>
              <a:ext uri="{FF2B5EF4-FFF2-40B4-BE49-F238E27FC236}">
                <a16:creationId xmlns:a16="http://schemas.microsoft.com/office/drawing/2014/main" id="{C05437CC-BC50-8807-2838-F59A04AF2505}"/>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7" name="Freeform 47">
            <a:extLst>
              <a:ext uri="{FF2B5EF4-FFF2-40B4-BE49-F238E27FC236}">
                <a16:creationId xmlns:a16="http://schemas.microsoft.com/office/drawing/2014/main" id="{9AF749E2-E824-9846-0216-5AF919ABE4E8}"/>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8" name="Freeform 22">
            <a:extLst>
              <a:ext uri="{FF2B5EF4-FFF2-40B4-BE49-F238E27FC236}">
                <a16:creationId xmlns:a16="http://schemas.microsoft.com/office/drawing/2014/main" id="{6E8ABD17-7026-EF3E-8E2F-E6A0210A9BC1}"/>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9" name="Freeform 44">
            <a:extLst>
              <a:ext uri="{FF2B5EF4-FFF2-40B4-BE49-F238E27FC236}">
                <a16:creationId xmlns:a16="http://schemas.microsoft.com/office/drawing/2014/main" id="{DC7AD9D1-A132-C268-A345-921BD4B46A0F}"/>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0" name="TextBox 38">
            <a:extLst>
              <a:ext uri="{FF2B5EF4-FFF2-40B4-BE49-F238E27FC236}">
                <a16:creationId xmlns:a16="http://schemas.microsoft.com/office/drawing/2014/main" id="{650ECB81-3C51-82CD-A6BA-F5FA5AAE3A62}"/>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71" name="Freeform 44">
            <a:extLst>
              <a:ext uri="{FF2B5EF4-FFF2-40B4-BE49-F238E27FC236}">
                <a16:creationId xmlns:a16="http://schemas.microsoft.com/office/drawing/2014/main" id="{D6D216C7-3DF4-F921-9CB8-08C403BC25D3}"/>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2" name="TextBox 39">
            <a:extLst>
              <a:ext uri="{FF2B5EF4-FFF2-40B4-BE49-F238E27FC236}">
                <a16:creationId xmlns:a16="http://schemas.microsoft.com/office/drawing/2014/main" id="{BA2CA5F0-7970-96FD-1349-7ED1D6C5A8F9}"/>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73" name="AutoShape 20">
            <a:extLst>
              <a:ext uri="{FF2B5EF4-FFF2-40B4-BE49-F238E27FC236}">
                <a16:creationId xmlns:a16="http://schemas.microsoft.com/office/drawing/2014/main" id="{C7857CD5-9FF8-E54D-E8F0-2B2D9E9DE4F4}"/>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74" name="Freeform 21">
            <a:extLst>
              <a:ext uri="{FF2B5EF4-FFF2-40B4-BE49-F238E27FC236}">
                <a16:creationId xmlns:a16="http://schemas.microsoft.com/office/drawing/2014/main" id="{5AFAC689-75F5-D3E5-18B4-7AE16AB2B37E}"/>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5" name="TextBox 40">
            <a:extLst>
              <a:ext uri="{FF2B5EF4-FFF2-40B4-BE49-F238E27FC236}">
                <a16:creationId xmlns:a16="http://schemas.microsoft.com/office/drawing/2014/main" id="{DAAC2DC4-4896-C11D-B59D-1CED3FBBA724}"/>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76" name="TextBox 42">
            <a:extLst>
              <a:ext uri="{FF2B5EF4-FFF2-40B4-BE49-F238E27FC236}">
                <a16:creationId xmlns:a16="http://schemas.microsoft.com/office/drawing/2014/main" id="{FBE74FE7-2E62-3639-53DD-32F22BE4320E}"/>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7" name="Freeform 21">
            <a:extLst>
              <a:ext uri="{FF2B5EF4-FFF2-40B4-BE49-F238E27FC236}">
                <a16:creationId xmlns:a16="http://schemas.microsoft.com/office/drawing/2014/main" id="{0E8C78DA-D71F-EBE9-E4CB-1224824F9099}"/>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8" name="Freeform 22">
            <a:extLst>
              <a:ext uri="{FF2B5EF4-FFF2-40B4-BE49-F238E27FC236}">
                <a16:creationId xmlns:a16="http://schemas.microsoft.com/office/drawing/2014/main" id="{DF8064AD-013D-1C2C-9F4F-9ECD4FD7AD61}"/>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9" name="Freeform 21">
            <a:extLst>
              <a:ext uri="{FF2B5EF4-FFF2-40B4-BE49-F238E27FC236}">
                <a16:creationId xmlns:a16="http://schemas.microsoft.com/office/drawing/2014/main" id="{4F801D8E-D531-85E4-CDA4-5446CD2BCA08}"/>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0" name="Freeform 22">
            <a:extLst>
              <a:ext uri="{FF2B5EF4-FFF2-40B4-BE49-F238E27FC236}">
                <a16:creationId xmlns:a16="http://schemas.microsoft.com/office/drawing/2014/main" id="{81EFCC53-30F9-566F-5D54-D05D5760C71A}"/>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3" name="Freeform 21">
            <a:extLst>
              <a:ext uri="{FF2B5EF4-FFF2-40B4-BE49-F238E27FC236}">
                <a16:creationId xmlns:a16="http://schemas.microsoft.com/office/drawing/2014/main" id="{A7323257-7FAD-F7C2-41D0-2678860DE72D}"/>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4" name="Freeform 22">
            <a:extLst>
              <a:ext uri="{FF2B5EF4-FFF2-40B4-BE49-F238E27FC236}">
                <a16:creationId xmlns:a16="http://schemas.microsoft.com/office/drawing/2014/main" id="{DCC23D46-4C1A-AB5C-9D2E-4E1AE82ACED2}"/>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5" name="Freeform 21">
            <a:extLst>
              <a:ext uri="{FF2B5EF4-FFF2-40B4-BE49-F238E27FC236}">
                <a16:creationId xmlns:a16="http://schemas.microsoft.com/office/drawing/2014/main" id="{F583B164-4F75-70F8-B95A-44DDCFA11D92}"/>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6" name="Freeform 22">
            <a:extLst>
              <a:ext uri="{FF2B5EF4-FFF2-40B4-BE49-F238E27FC236}">
                <a16:creationId xmlns:a16="http://schemas.microsoft.com/office/drawing/2014/main" id="{10C88B91-E7DA-8E41-E2AD-9E01B08FEEC4}"/>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7" name="Freeform 21">
            <a:extLst>
              <a:ext uri="{FF2B5EF4-FFF2-40B4-BE49-F238E27FC236}">
                <a16:creationId xmlns:a16="http://schemas.microsoft.com/office/drawing/2014/main" id="{D633FA51-84C7-F027-A085-6D784D7A960B}"/>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8" name="Freeform 22">
            <a:extLst>
              <a:ext uri="{FF2B5EF4-FFF2-40B4-BE49-F238E27FC236}">
                <a16:creationId xmlns:a16="http://schemas.microsoft.com/office/drawing/2014/main" id="{49899180-B79E-451C-5BE8-E62D1BB15FB6}"/>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9" name="Freeform 21">
            <a:extLst>
              <a:ext uri="{FF2B5EF4-FFF2-40B4-BE49-F238E27FC236}">
                <a16:creationId xmlns:a16="http://schemas.microsoft.com/office/drawing/2014/main" id="{C5311DD2-9B05-48DB-AE2F-EB5042EED08F}"/>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1" name="Freeform 21">
            <a:extLst>
              <a:ext uri="{FF2B5EF4-FFF2-40B4-BE49-F238E27FC236}">
                <a16:creationId xmlns:a16="http://schemas.microsoft.com/office/drawing/2014/main" id="{7164AEE2-EB5D-6945-D73B-ECA2636709A6}"/>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2" name="Freeform 22">
            <a:extLst>
              <a:ext uri="{FF2B5EF4-FFF2-40B4-BE49-F238E27FC236}">
                <a16:creationId xmlns:a16="http://schemas.microsoft.com/office/drawing/2014/main" id="{222322D3-91EB-AC63-4F64-61557A0278E0}"/>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22">
            <a:extLst>
              <a:ext uri="{FF2B5EF4-FFF2-40B4-BE49-F238E27FC236}">
                <a16:creationId xmlns:a16="http://schemas.microsoft.com/office/drawing/2014/main" id="{C360514C-3FB8-56ED-E1FE-8D4A9C93299F}"/>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4" name="Freeform 21">
            <a:extLst>
              <a:ext uri="{FF2B5EF4-FFF2-40B4-BE49-F238E27FC236}">
                <a16:creationId xmlns:a16="http://schemas.microsoft.com/office/drawing/2014/main" id="{A27CA014-FD24-7932-2924-5F1F9A255C47}"/>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5" name="Freeform 22">
            <a:extLst>
              <a:ext uri="{FF2B5EF4-FFF2-40B4-BE49-F238E27FC236}">
                <a16:creationId xmlns:a16="http://schemas.microsoft.com/office/drawing/2014/main" id="{100DF34B-0A18-438D-DA53-717FD65518CD}"/>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6" name="Freeform 22">
            <a:extLst>
              <a:ext uri="{FF2B5EF4-FFF2-40B4-BE49-F238E27FC236}">
                <a16:creationId xmlns:a16="http://schemas.microsoft.com/office/drawing/2014/main" id="{C540B899-009C-3B5A-ECD3-B2198E4BA283}"/>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7" name="TextBox 34">
            <a:extLst>
              <a:ext uri="{FF2B5EF4-FFF2-40B4-BE49-F238E27FC236}">
                <a16:creationId xmlns:a16="http://schemas.microsoft.com/office/drawing/2014/main" id="{E6DEA543-86D9-6A41-BB73-291B37F17894}"/>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98" name="Freeform 97">
            <a:extLst>
              <a:ext uri="{FF2B5EF4-FFF2-40B4-BE49-F238E27FC236}">
                <a16:creationId xmlns:a16="http://schemas.microsoft.com/office/drawing/2014/main" id="{D325A992-40C2-9A26-A1A4-2E4FA037C9DC}"/>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97">
            <a:extLst>
              <a:ext uri="{FF2B5EF4-FFF2-40B4-BE49-F238E27FC236}">
                <a16:creationId xmlns:a16="http://schemas.microsoft.com/office/drawing/2014/main" id="{7B571BCC-AA64-6D2C-663C-83329FC5A3BF}"/>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0" name="TextBox 8">
            <a:extLst>
              <a:ext uri="{FF2B5EF4-FFF2-40B4-BE49-F238E27FC236}">
                <a16:creationId xmlns:a16="http://schemas.microsoft.com/office/drawing/2014/main" id="{E6EA3F13-D323-6452-536A-677832F9D0D7}"/>
              </a:ext>
            </a:extLst>
          </p:cNvPr>
          <p:cNvSpPr txBox="1"/>
          <p:nvPr/>
        </p:nvSpPr>
        <p:spPr>
          <a:xfrm>
            <a:off x="4960235" y="277149"/>
            <a:ext cx="8367530"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RİSK ANALİZİ</a:t>
            </a:r>
            <a:r>
              <a:rPr lang="tr-TR" sz="6399" dirty="0">
                <a:solidFill>
                  <a:srgbClr val="1A426A"/>
                </a:solidFill>
                <a:latin typeface="Active Heart"/>
              </a:rPr>
              <a:t> (0-10 Puan)</a:t>
            </a:r>
            <a:endParaRPr lang="en-US" sz="6399" dirty="0">
              <a:solidFill>
                <a:srgbClr val="1A426A"/>
              </a:solidFill>
              <a:latin typeface="Active Heart"/>
            </a:endParaRPr>
          </a:p>
        </p:txBody>
      </p:sp>
      <p:sp>
        <p:nvSpPr>
          <p:cNvPr id="101" name="TextBox 115">
            <a:extLst>
              <a:ext uri="{FF2B5EF4-FFF2-40B4-BE49-F238E27FC236}">
                <a16:creationId xmlns:a16="http://schemas.microsoft.com/office/drawing/2014/main" id="{B7EE3308-3764-BA8B-13D1-9822D2CB6AF8}"/>
              </a:ext>
            </a:extLst>
          </p:cNvPr>
          <p:cNvSpPr txBox="1"/>
          <p:nvPr/>
        </p:nvSpPr>
        <p:spPr>
          <a:xfrm>
            <a:off x="882672" y="1740605"/>
            <a:ext cx="13521576" cy="984885"/>
          </a:xfrm>
          <a:prstGeom prst="rect">
            <a:avLst/>
          </a:prstGeom>
        </p:spPr>
        <p:txBody>
          <a:bodyPr wrap="square" lIns="0" tIns="0" rIns="0" bIns="0" rtlCol="0" anchor="t">
            <a:spAutoFit/>
          </a:bodyPr>
          <a:lstStyle/>
          <a:p>
            <a:pPr>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Projenin başarısını etkileyebilecek olası riskler objektif bir biçimde belirtilmelidir.</a:t>
            </a:r>
          </a:p>
          <a:p>
            <a:pPr>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 </a:t>
            </a:r>
          </a:p>
          <a:p>
            <a:pPr>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Bu risklere karşı alınabilecek gerçekçi önlemler ve çözümler açıklanmalıdır. </a:t>
            </a:r>
          </a:p>
        </p:txBody>
      </p:sp>
      <p:sp>
        <p:nvSpPr>
          <p:cNvPr id="103" name="Freeform 22">
            <a:extLst>
              <a:ext uri="{FF2B5EF4-FFF2-40B4-BE49-F238E27FC236}">
                <a16:creationId xmlns:a16="http://schemas.microsoft.com/office/drawing/2014/main" id="{78B90ACD-367F-0CF1-F8EA-20E389CDC42A}"/>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AA925C2D-50D7-30C8-68C8-9D0CD540B7CB}"/>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extLst>
      <p:ext uri="{BB962C8B-B14F-4D97-AF65-F5344CB8AC3E}">
        <p14:creationId xmlns:p14="http://schemas.microsoft.com/office/powerpoint/2010/main" val="1690937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5B35BBA-D6AD-C626-ECC6-270EFDB7D20E}"/>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90210622-DBFD-8326-2154-6BDD8ACAB10D}"/>
              </a:ext>
            </a:extLst>
          </p:cNvPr>
          <p:cNvSpPr txBox="1">
            <a:spLocks noGrp="1" noRot="1" noMove="1" noResize="1" noEditPoints="1" noAdjustHandles="1" noChangeArrowheads="1" noChangeShapeType="1"/>
          </p:cNvSpPr>
          <p:nvPr/>
        </p:nvSpPr>
        <p:spPr>
          <a:xfrm>
            <a:off x="17911760" y="9607673"/>
            <a:ext cx="22074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8</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A7955905-DCC3-54E9-235C-0BA165103D04}"/>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6D42FC2B-8FE2-22F4-0F3D-EFF04B10F48E}"/>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TextBox 34">
            <a:extLst>
              <a:ext uri="{FF2B5EF4-FFF2-40B4-BE49-F238E27FC236}">
                <a16:creationId xmlns:a16="http://schemas.microsoft.com/office/drawing/2014/main" id="{EDE3874F-1B66-6237-9068-647492D7B610}"/>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56" name="TextBox 35">
            <a:extLst>
              <a:ext uri="{FF2B5EF4-FFF2-40B4-BE49-F238E27FC236}">
                <a16:creationId xmlns:a16="http://schemas.microsoft.com/office/drawing/2014/main" id="{49C4FC91-282E-DC27-1CA6-77FF678B030D}"/>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57" name="TextBox 36">
            <a:extLst>
              <a:ext uri="{FF2B5EF4-FFF2-40B4-BE49-F238E27FC236}">
                <a16:creationId xmlns:a16="http://schemas.microsoft.com/office/drawing/2014/main" id="{919C442E-7892-BADF-DB3A-1ACDB100686B}"/>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58" name="TextBox 39">
            <a:extLst>
              <a:ext uri="{FF2B5EF4-FFF2-40B4-BE49-F238E27FC236}">
                <a16:creationId xmlns:a16="http://schemas.microsoft.com/office/drawing/2014/main" id="{AAC647D5-9E73-F287-D0D2-3A039042C2AC}"/>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59" name="Freeform 45">
            <a:extLst>
              <a:ext uri="{FF2B5EF4-FFF2-40B4-BE49-F238E27FC236}">
                <a16:creationId xmlns:a16="http://schemas.microsoft.com/office/drawing/2014/main" id="{8BEFA2F2-AC4A-835B-4741-60515FC64B9D}"/>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0" name="Freeform 47">
            <a:extLst>
              <a:ext uri="{FF2B5EF4-FFF2-40B4-BE49-F238E27FC236}">
                <a16:creationId xmlns:a16="http://schemas.microsoft.com/office/drawing/2014/main" id="{1105050F-4990-CA2E-8070-1C9D06A71B0A}"/>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1" name="Freeform 22">
            <a:extLst>
              <a:ext uri="{FF2B5EF4-FFF2-40B4-BE49-F238E27FC236}">
                <a16:creationId xmlns:a16="http://schemas.microsoft.com/office/drawing/2014/main" id="{25806577-1486-5694-7EEC-B15CE2BFB751}"/>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2" name="Freeform 44">
            <a:extLst>
              <a:ext uri="{FF2B5EF4-FFF2-40B4-BE49-F238E27FC236}">
                <a16:creationId xmlns:a16="http://schemas.microsoft.com/office/drawing/2014/main" id="{B605F046-F99B-25F1-1286-F9CEEDF112D8}"/>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3" name="TextBox 38">
            <a:extLst>
              <a:ext uri="{FF2B5EF4-FFF2-40B4-BE49-F238E27FC236}">
                <a16:creationId xmlns:a16="http://schemas.microsoft.com/office/drawing/2014/main" id="{BBDB7EFE-9685-099E-F465-E2D01E6DD012}"/>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64" name="Freeform 44">
            <a:extLst>
              <a:ext uri="{FF2B5EF4-FFF2-40B4-BE49-F238E27FC236}">
                <a16:creationId xmlns:a16="http://schemas.microsoft.com/office/drawing/2014/main" id="{FF093A7E-3310-98F5-7202-D3063C26854A}"/>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5" name="TextBox 39">
            <a:extLst>
              <a:ext uri="{FF2B5EF4-FFF2-40B4-BE49-F238E27FC236}">
                <a16:creationId xmlns:a16="http://schemas.microsoft.com/office/drawing/2014/main" id="{5A4BEEF5-BA9F-7B86-47D1-78AC474E2F42}"/>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66" name="AutoShape 20">
            <a:extLst>
              <a:ext uri="{FF2B5EF4-FFF2-40B4-BE49-F238E27FC236}">
                <a16:creationId xmlns:a16="http://schemas.microsoft.com/office/drawing/2014/main" id="{CC70CF4E-E717-C4C3-70B8-B89D7A7F8492}"/>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67" name="Freeform 21">
            <a:extLst>
              <a:ext uri="{FF2B5EF4-FFF2-40B4-BE49-F238E27FC236}">
                <a16:creationId xmlns:a16="http://schemas.microsoft.com/office/drawing/2014/main" id="{201775FB-EFBE-19A5-E4AB-CA36D91CFCFD}"/>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68" name="TextBox 40">
            <a:extLst>
              <a:ext uri="{FF2B5EF4-FFF2-40B4-BE49-F238E27FC236}">
                <a16:creationId xmlns:a16="http://schemas.microsoft.com/office/drawing/2014/main" id="{FA878BE3-378E-8278-3627-9A66EBD7FA20}"/>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69" name="TextBox 42">
            <a:extLst>
              <a:ext uri="{FF2B5EF4-FFF2-40B4-BE49-F238E27FC236}">
                <a16:creationId xmlns:a16="http://schemas.microsoft.com/office/drawing/2014/main" id="{0E9451B1-328A-F590-E4CF-504C5BB5CCB3}"/>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0" name="Freeform 21">
            <a:extLst>
              <a:ext uri="{FF2B5EF4-FFF2-40B4-BE49-F238E27FC236}">
                <a16:creationId xmlns:a16="http://schemas.microsoft.com/office/drawing/2014/main" id="{F53A81AB-B81C-719B-F4AE-C92DEE4A0FA5}"/>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1" name="Freeform 22">
            <a:extLst>
              <a:ext uri="{FF2B5EF4-FFF2-40B4-BE49-F238E27FC236}">
                <a16:creationId xmlns:a16="http://schemas.microsoft.com/office/drawing/2014/main" id="{04097CB8-A81C-84DE-0A09-C6AEBDDC4521}"/>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2" name="Freeform 21">
            <a:extLst>
              <a:ext uri="{FF2B5EF4-FFF2-40B4-BE49-F238E27FC236}">
                <a16:creationId xmlns:a16="http://schemas.microsoft.com/office/drawing/2014/main" id="{80ABB9A0-C319-8BE0-9170-792B91B86F5E}"/>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3" name="Freeform 22">
            <a:extLst>
              <a:ext uri="{FF2B5EF4-FFF2-40B4-BE49-F238E27FC236}">
                <a16:creationId xmlns:a16="http://schemas.microsoft.com/office/drawing/2014/main" id="{EF0F45BC-60BE-E971-0B75-CCCAE58A8105}"/>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4" name="Freeform 21">
            <a:extLst>
              <a:ext uri="{FF2B5EF4-FFF2-40B4-BE49-F238E27FC236}">
                <a16:creationId xmlns:a16="http://schemas.microsoft.com/office/drawing/2014/main" id="{C82B1034-A336-06F1-2920-DB9364C03C37}"/>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5" name="Freeform 22">
            <a:extLst>
              <a:ext uri="{FF2B5EF4-FFF2-40B4-BE49-F238E27FC236}">
                <a16:creationId xmlns:a16="http://schemas.microsoft.com/office/drawing/2014/main" id="{AFB4E3A8-9447-8293-947C-E6E8AF9C6A0D}"/>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6" name="Freeform 21">
            <a:extLst>
              <a:ext uri="{FF2B5EF4-FFF2-40B4-BE49-F238E27FC236}">
                <a16:creationId xmlns:a16="http://schemas.microsoft.com/office/drawing/2014/main" id="{0D5EFCCB-0983-7D55-8DA6-CD474E809405}"/>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7" name="Freeform 22">
            <a:extLst>
              <a:ext uri="{FF2B5EF4-FFF2-40B4-BE49-F238E27FC236}">
                <a16:creationId xmlns:a16="http://schemas.microsoft.com/office/drawing/2014/main" id="{94F63E2D-4145-7437-C802-4B5E0E4C44FF}"/>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8" name="Freeform 21">
            <a:extLst>
              <a:ext uri="{FF2B5EF4-FFF2-40B4-BE49-F238E27FC236}">
                <a16:creationId xmlns:a16="http://schemas.microsoft.com/office/drawing/2014/main" id="{8185F350-8067-0388-10A9-6A2877966587}"/>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9" name="Freeform 22">
            <a:extLst>
              <a:ext uri="{FF2B5EF4-FFF2-40B4-BE49-F238E27FC236}">
                <a16:creationId xmlns:a16="http://schemas.microsoft.com/office/drawing/2014/main" id="{EEEE7AF4-5E38-F8F8-B523-50B8B473F13F}"/>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0" name="Freeform 21">
            <a:extLst>
              <a:ext uri="{FF2B5EF4-FFF2-40B4-BE49-F238E27FC236}">
                <a16:creationId xmlns:a16="http://schemas.microsoft.com/office/drawing/2014/main" id="{5E6347B4-E1BF-853E-7F96-F4474882E678}"/>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3" name="Freeform 22">
            <a:extLst>
              <a:ext uri="{FF2B5EF4-FFF2-40B4-BE49-F238E27FC236}">
                <a16:creationId xmlns:a16="http://schemas.microsoft.com/office/drawing/2014/main" id="{317AD2E4-641F-795D-221A-56D57738F90A}"/>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4" name="Freeform 21">
            <a:extLst>
              <a:ext uri="{FF2B5EF4-FFF2-40B4-BE49-F238E27FC236}">
                <a16:creationId xmlns:a16="http://schemas.microsoft.com/office/drawing/2014/main" id="{C74C40D7-6E23-5FF1-315A-92A2E72E8901}"/>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6" name="Freeform 22">
            <a:extLst>
              <a:ext uri="{FF2B5EF4-FFF2-40B4-BE49-F238E27FC236}">
                <a16:creationId xmlns:a16="http://schemas.microsoft.com/office/drawing/2014/main" id="{4BE9A98A-84E5-5B4A-1797-394E9E900BEF}"/>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7" name="Freeform 21">
            <a:extLst>
              <a:ext uri="{FF2B5EF4-FFF2-40B4-BE49-F238E27FC236}">
                <a16:creationId xmlns:a16="http://schemas.microsoft.com/office/drawing/2014/main" id="{157BF61F-F48C-C960-46A6-3AE1F3C727C1}"/>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8" name="Freeform 22">
            <a:extLst>
              <a:ext uri="{FF2B5EF4-FFF2-40B4-BE49-F238E27FC236}">
                <a16:creationId xmlns:a16="http://schemas.microsoft.com/office/drawing/2014/main" id="{BCCF5B2A-BE70-B96A-6149-FACA87509626}"/>
              </a:ext>
            </a:extLst>
          </p:cNvPr>
          <p:cNvSpPr/>
          <p:nvPr/>
        </p:nvSpPr>
        <p:spPr>
          <a:xfrm>
            <a:off x="17609371" y="747414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9" name="Freeform 22">
            <a:extLst>
              <a:ext uri="{FF2B5EF4-FFF2-40B4-BE49-F238E27FC236}">
                <a16:creationId xmlns:a16="http://schemas.microsoft.com/office/drawing/2014/main" id="{CE6A78D0-4C5B-C242-A229-97D06EBB96C9}"/>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00" name="TextBox 34">
            <a:extLst>
              <a:ext uri="{FF2B5EF4-FFF2-40B4-BE49-F238E27FC236}">
                <a16:creationId xmlns:a16="http://schemas.microsoft.com/office/drawing/2014/main" id="{42F450BA-CE36-B103-08FC-B2CDBE113DAF}"/>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101" name="Freeform 97">
            <a:extLst>
              <a:ext uri="{FF2B5EF4-FFF2-40B4-BE49-F238E27FC236}">
                <a16:creationId xmlns:a16="http://schemas.microsoft.com/office/drawing/2014/main" id="{A96B13F8-6667-1D89-FFFD-30553FD3F8CE}"/>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2" name="Freeform 97">
            <a:extLst>
              <a:ext uri="{FF2B5EF4-FFF2-40B4-BE49-F238E27FC236}">
                <a16:creationId xmlns:a16="http://schemas.microsoft.com/office/drawing/2014/main" id="{466F4E5A-0986-1487-BDB9-8B479BB3E5DC}"/>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3" name="TextBox 8">
            <a:extLst>
              <a:ext uri="{FF2B5EF4-FFF2-40B4-BE49-F238E27FC236}">
                <a16:creationId xmlns:a16="http://schemas.microsoft.com/office/drawing/2014/main" id="{B3A5957F-D894-1A1E-416E-69A9260613D2}"/>
              </a:ext>
            </a:extLst>
          </p:cNvPr>
          <p:cNvSpPr txBox="1"/>
          <p:nvPr/>
        </p:nvSpPr>
        <p:spPr>
          <a:xfrm>
            <a:off x="4418706" y="277149"/>
            <a:ext cx="9450589"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PROJE TAKVİMİ</a:t>
            </a:r>
            <a:r>
              <a:rPr lang="tr-TR" sz="6399" dirty="0">
                <a:solidFill>
                  <a:srgbClr val="1A426A"/>
                </a:solidFill>
                <a:latin typeface="Active Heart"/>
              </a:rPr>
              <a:t> (0-5 Puan)</a:t>
            </a:r>
            <a:endParaRPr lang="en-US" sz="6399" dirty="0">
              <a:solidFill>
                <a:srgbClr val="1A426A"/>
              </a:solidFill>
              <a:latin typeface="Active Heart"/>
            </a:endParaRPr>
          </a:p>
        </p:txBody>
      </p:sp>
      <p:sp>
        <p:nvSpPr>
          <p:cNvPr id="104" name="TextBox 115">
            <a:extLst>
              <a:ext uri="{FF2B5EF4-FFF2-40B4-BE49-F238E27FC236}">
                <a16:creationId xmlns:a16="http://schemas.microsoft.com/office/drawing/2014/main" id="{5E006F93-B1FC-2A36-C2B0-8A16AAA1DACB}"/>
              </a:ext>
            </a:extLst>
          </p:cNvPr>
          <p:cNvSpPr txBox="1"/>
          <p:nvPr/>
        </p:nvSpPr>
        <p:spPr>
          <a:xfrm>
            <a:off x="882672" y="1740605"/>
            <a:ext cx="13521576" cy="553998"/>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Halihazırda projenin hangi aşamada olduğu ve projenin gelecekteki aşamaları, bu aşamaların ne zaman tamamlanmasının planlandığı ve hangi çıktıların hedeflendiği açıklanmalıdır.</a:t>
            </a:r>
          </a:p>
        </p:txBody>
      </p:sp>
      <p:sp>
        <p:nvSpPr>
          <p:cNvPr id="106" name="Freeform 22">
            <a:extLst>
              <a:ext uri="{FF2B5EF4-FFF2-40B4-BE49-F238E27FC236}">
                <a16:creationId xmlns:a16="http://schemas.microsoft.com/office/drawing/2014/main" id="{AB7CB257-9330-064A-D348-0A828D1EDC1B}"/>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1B6BFDB0-97E1-D835-DF5F-1125B81E1BD9}"/>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extLst>
      <p:ext uri="{BB962C8B-B14F-4D97-AF65-F5344CB8AC3E}">
        <p14:creationId xmlns:p14="http://schemas.microsoft.com/office/powerpoint/2010/main" val="1351766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Box 11"/>
          <p:cNvSpPr txBox="1">
            <a:spLocks noGrp="1" noRot="1" noMove="1" noResize="1" noEditPoints="1" noAdjustHandles="1" noChangeArrowheads="1" noChangeShapeType="1"/>
          </p:cNvSpPr>
          <p:nvPr/>
        </p:nvSpPr>
        <p:spPr>
          <a:xfrm>
            <a:off x="17910064" y="9607673"/>
            <a:ext cx="224135"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9</a:t>
            </a:r>
            <a:endParaRPr lang="en-US" sz="3399" dirty="0">
              <a:solidFill>
                <a:srgbClr val="1A426A"/>
              </a:solidFill>
              <a:latin typeface="Active Heart"/>
            </a:endParaRPr>
          </a:p>
        </p:txBody>
      </p:sp>
      <p:sp>
        <p:nvSpPr>
          <p:cNvPr id="6" name="Freeform 96">
            <a:extLst>
              <a:ext uri="{FF2B5EF4-FFF2-40B4-BE49-F238E27FC236}">
                <a16:creationId xmlns:a16="http://schemas.microsoft.com/office/drawing/2014/main" id="{8889A2C4-0991-E636-4945-CE5D1D49408F}"/>
              </a:ext>
            </a:extLst>
          </p:cNvPr>
          <p:cNvSpPr/>
          <p:nvPr/>
        </p:nvSpPr>
        <p:spPr>
          <a:xfrm>
            <a:off x="17212784"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7" name="Freeform 96">
            <a:extLst>
              <a:ext uri="{FF2B5EF4-FFF2-40B4-BE49-F238E27FC236}">
                <a16:creationId xmlns:a16="http://schemas.microsoft.com/office/drawing/2014/main" id="{213A1956-E3AF-C6B6-E40A-9CA5CD039D54}"/>
              </a:ext>
            </a:extLst>
          </p:cNvPr>
          <p:cNvSpPr/>
          <p:nvPr/>
        </p:nvSpPr>
        <p:spPr>
          <a:xfrm>
            <a:off x="17238864" y="8046361"/>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TextBox 34">
            <a:extLst>
              <a:ext uri="{FF2B5EF4-FFF2-40B4-BE49-F238E27FC236}">
                <a16:creationId xmlns:a16="http://schemas.microsoft.com/office/drawing/2014/main" id="{B9324005-BF03-F895-D8A3-310C9FCF7A5F}"/>
              </a:ext>
            </a:extLst>
          </p:cNvPr>
          <p:cNvSpPr txBox="1"/>
          <p:nvPr/>
        </p:nvSpPr>
        <p:spPr>
          <a:xfrm>
            <a:off x="16322547" y="5363314"/>
            <a:ext cx="1070004"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İŞ MODELİ</a:t>
            </a:r>
          </a:p>
        </p:txBody>
      </p:sp>
      <p:sp>
        <p:nvSpPr>
          <p:cNvPr id="63" name="TextBox 35">
            <a:extLst>
              <a:ext uri="{FF2B5EF4-FFF2-40B4-BE49-F238E27FC236}">
                <a16:creationId xmlns:a16="http://schemas.microsoft.com/office/drawing/2014/main" id="{21B8E2E6-9138-7B75-D44C-B9E989F0856A}"/>
              </a:ext>
            </a:extLst>
          </p:cNvPr>
          <p:cNvSpPr txBox="1"/>
          <p:nvPr/>
        </p:nvSpPr>
        <p:spPr>
          <a:xfrm>
            <a:off x="15960387" y="4100850"/>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RAKİP ANALİZİ</a:t>
            </a:r>
          </a:p>
        </p:txBody>
      </p:sp>
      <p:sp>
        <p:nvSpPr>
          <p:cNvPr id="64" name="TextBox 36">
            <a:extLst>
              <a:ext uri="{FF2B5EF4-FFF2-40B4-BE49-F238E27FC236}">
                <a16:creationId xmlns:a16="http://schemas.microsoft.com/office/drawing/2014/main" id="{B2AC04BA-9E36-2FBC-CD27-6F70B6C2DF9C}"/>
              </a:ext>
            </a:extLst>
          </p:cNvPr>
          <p:cNvSpPr txBox="1"/>
          <p:nvPr/>
        </p:nvSpPr>
        <p:spPr>
          <a:xfrm>
            <a:off x="16629317" y="4674853"/>
            <a:ext cx="76636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PAZAR</a:t>
            </a:r>
          </a:p>
        </p:txBody>
      </p:sp>
      <p:sp>
        <p:nvSpPr>
          <p:cNvPr id="65" name="TextBox 39">
            <a:extLst>
              <a:ext uri="{FF2B5EF4-FFF2-40B4-BE49-F238E27FC236}">
                <a16:creationId xmlns:a16="http://schemas.microsoft.com/office/drawing/2014/main" id="{1B229D51-08B9-D3E4-6934-939C9F73C32E}"/>
              </a:ext>
            </a:extLst>
          </p:cNvPr>
          <p:cNvSpPr txBox="1"/>
          <p:nvPr/>
        </p:nvSpPr>
        <p:spPr>
          <a:xfrm>
            <a:off x="16075163" y="6087912"/>
            <a:ext cx="1426431"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RİSK ANALİZİ</a:t>
            </a:r>
          </a:p>
        </p:txBody>
      </p:sp>
      <p:sp>
        <p:nvSpPr>
          <p:cNvPr id="66" name="Freeform 45">
            <a:extLst>
              <a:ext uri="{FF2B5EF4-FFF2-40B4-BE49-F238E27FC236}">
                <a16:creationId xmlns:a16="http://schemas.microsoft.com/office/drawing/2014/main" id="{B36C912A-2862-5E67-C0EC-965B46CF3EA1}"/>
              </a:ext>
            </a:extLst>
          </p:cNvPr>
          <p:cNvSpPr/>
          <p:nvPr/>
        </p:nvSpPr>
        <p:spPr>
          <a:xfrm>
            <a:off x="17604558" y="6069309"/>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7" name="Freeform 47">
            <a:extLst>
              <a:ext uri="{FF2B5EF4-FFF2-40B4-BE49-F238E27FC236}">
                <a16:creationId xmlns:a16="http://schemas.microsoft.com/office/drawing/2014/main" id="{2CA9F12F-9D1D-7577-D857-E605C1D1432E}"/>
              </a:ext>
            </a:extLst>
          </p:cNvPr>
          <p:cNvSpPr/>
          <p:nvPr/>
        </p:nvSpPr>
        <p:spPr>
          <a:xfrm>
            <a:off x="17649258" y="4608958"/>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8" name="Freeform 22">
            <a:extLst>
              <a:ext uri="{FF2B5EF4-FFF2-40B4-BE49-F238E27FC236}">
                <a16:creationId xmlns:a16="http://schemas.microsoft.com/office/drawing/2014/main" id="{6B20ADBD-ED96-5E0B-8A4C-372A1C5A3E20}"/>
              </a:ext>
            </a:extLst>
          </p:cNvPr>
          <p:cNvSpPr/>
          <p:nvPr/>
        </p:nvSpPr>
        <p:spPr>
          <a:xfrm>
            <a:off x="17610634" y="3130421"/>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69" name="Freeform 44">
            <a:extLst>
              <a:ext uri="{FF2B5EF4-FFF2-40B4-BE49-F238E27FC236}">
                <a16:creationId xmlns:a16="http://schemas.microsoft.com/office/drawing/2014/main" id="{4B31AC9E-4413-305C-CFCB-A8A130FC2F76}"/>
              </a:ext>
            </a:extLst>
          </p:cNvPr>
          <p:cNvSpPr/>
          <p:nvPr/>
        </p:nvSpPr>
        <p:spPr>
          <a:xfrm>
            <a:off x="17606643" y="757649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0" name="TextBox 38">
            <a:extLst>
              <a:ext uri="{FF2B5EF4-FFF2-40B4-BE49-F238E27FC236}">
                <a16:creationId xmlns:a16="http://schemas.microsoft.com/office/drawing/2014/main" id="{3085F776-5BED-4A7C-8D9C-20D2566FB04F}"/>
              </a:ext>
            </a:extLst>
          </p:cNvPr>
          <p:cNvSpPr txBox="1"/>
          <p:nvPr/>
        </p:nvSpPr>
        <p:spPr>
          <a:xfrm>
            <a:off x="16687443" y="7441515"/>
            <a:ext cx="806858" cy="266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TAKIM</a:t>
            </a:r>
          </a:p>
        </p:txBody>
      </p:sp>
      <p:sp>
        <p:nvSpPr>
          <p:cNvPr id="71" name="Freeform 44">
            <a:extLst>
              <a:ext uri="{FF2B5EF4-FFF2-40B4-BE49-F238E27FC236}">
                <a16:creationId xmlns:a16="http://schemas.microsoft.com/office/drawing/2014/main" id="{3EFA394B-8277-2657-2F9F-B9753971C9B2}"/>
              </a:ext>
            </a:extLst>
          </p:cNvPr>
          <p:cNvSpPr/>
          <p:nvPr/>
        </p:nvSpPr>
        <p:spPr>
          <a:xfrm>
            <a:off x="17644824" y="845414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2" name="TextBox 39">
            <a:extLst>
              <a:ext uri="{FF2B5EF4-FFF2-40B4-BE49-F238E27FC236}">
                <a16:creationId xmlns:a16="http://schemas.microsoft.com/office/drawing/2014/main" id="{54903FF1-5231-1449-B63A-244D83A15376}"/>
              </a:ext>
            </a:extLst>
          </p:cNvPr>
          <p:cNvSpPr txBox="1"/>
          <p:nvPr/>
        </p:nvSpPr>
        <p:spPr>
          <a:xfrm>
            <a:off x="15894011" y="6757100"/>
            <a:ext cx="1605706" cy="25731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p>
        </p:txBody>
      </p:sp>
      <p:sp>
        <p:nvSpPr>
          <p:cNvPr id="73" name="AutoShape 20">
            <a:extLst>
              <a:ext uri="{FF2B5EF4-FFF2-40B4-BE49-F238E27FC236}">
                <a16:creationId xmlns:a16="http://schemas.microsoft.com/office/drawing/2014/main" id="{BB1C3C70-DB19-B44A-0434-F864CE85F4CD}"/>
              </a:ext>
            </a:extLst>
          </p:cNvPr>
          <p:cNvSpPr/>
          <p:nvPr/>
        </p:nvSpPr>
        <p:spPr>
          <a:xfrm flipH="1" flipV="1">
            <a:off x="17685498" y="2016325"/>
            <a:ext cx="24584" cy="6103098"/>
          </a:xfrm>
          <a:prstGeom prst="line">
            <a:avLst/>
          </a:prstGeom>
          <a:ln w="38100" cap="flat">
            <a:solidFill>
              <a:srgbClr val="344C54"/>
            </a:solidFill>
            <a:prstDash val="solid"/>
            <a:headEnd type="none" w="sm" len="sm"/>
            <a:tailEnd type="none" w="sm" len="sm"/>
          </a:ln>
        </p:spPr>
        <p:txBody>
          <a:bodyPr/>
          <a:lstStyle/>
          <a:p>
            <a:endParaRPr lang="tr-TR"/>
          </a:p>
        </p:txBody>
      </p:sp>
      <p:sp>
        <p:nvSpPr>
          <p:cNvPr id="74" name="Freeform 21">
            <a:extLst>
              <a:ext uri="{FF2B5EF4-FFF2-40B4-BE49-F238E27FC236}">
                <a16:creationId xmlns:a16="http://schemas.microsoft.com/office/drawing/2014/main" id="{24A29392-825F-CBBC-4965-76CEC94FF609}"/>
              </a:ext>
            </a:extLst>
          </p:cNvPr>
          <p:cNvSpPr/>
          <p:nvPr/>
        </p:nvSpPr>
        <p:spPr>
          <a:xfrm>
            <a:off x="17530671" y="2348706"/>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5" name="TextBox 40">
            <a:extLst>
              <a:ext uri="{FF2B5EF4-FFF2-40B4-BE49-F238E27FC236}">
                <a16:creationId xmlns:a16="http://schemas.microsoft.com/office/drawing/2014/main" id="{E300008B-9FBF-09EA-BC28-73775BB2A8F3}"/>
              </a:ext>
            </a:extLst>
          </p:cNvPr>
          <p:cNvSpPr txBox="1"/>
          <p:nvPr/>
        </p:nvSpPr>
        <p:spPr>
          <a:xfrm>
            <a:off x="16570741" y="2910756"/>
            <a:ext cx="816077"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p>
        </p:txBody>
      </p:sp>
      <p:sp>
        <p:nvSpPr>
          <p:cNvPr id="76" name="TextBox 42">
            <a:extLst>
              <a:ext uri="{FF2B5EF4-FFF2-40B4-BE49-F238E27FC236}">
                <a16:creationId xmlns:a16="http://schemas.microsoft.com/office/drawing/2014/main" id="{75AA8CBC-3B56-199F-D35C-84D9BBB1E153}"/>
              </a:ext>
            </a:extLst>
          </p:cNvPr>
          <p:cNvSpPr txBox="1"/>
          <p:nvPr/>
        </p:nvSpPr>
        <p:spPr>
          <a:xfrm>
            <a:off x="16353490" y="2394433"/>
            <a:ext cx="1039618"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PROBLEM</a:t>
            </a:r>
          </a:p>
        </p:txBody>
      </p:sp>
      <p:sp>
        <p:nvSpPr>
          <p:cNvPr id="77" name="Freeform 21">
            <a:extLst>
              <a:ext uri="{FF2B5EF4-FFF2-40B4-BE49-F238E27FC236}">
                <a16:creationId xmlns:a16="http://schemas.microsoft.com/office/drawing/2014/main" id="{1407076A-E589-CE0F-2AAC-735BB3C66679}"/>
              </a:ext>
            </a:extLst>
          </p:cNvPr>
          <p:cNvSpPr/>
          <p:nvPr/>
        </p:nvSpPr>
        <p:spPr>
          <a:xfrm>
            <a:off x="17532778" y="286824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8" name="Freeform 22">
            <a:extLst>
              <a:ext uri="{FF2B5EF4-FFF2-40B4-BE49-F238E27FC236}">
                <a16:creationId xmlns:a16="http://schemas.microsoft.com/office/drawing/2014/main" id="{2A025687-2348-5367-9F3E-815A8307188E}"/>
              </a:ext>
            </a:extLst>
          </p:cNvPr>
          <p:cNvSpPr/>
          <p:nvPr/>
        </p:nvSpPr>
        <p:spPr>
          <a:xfrm>
            <a:off x="17616416" y="29513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79" name="Freeform 21">
            <a:extLst>
              <a:ext uri="{FF2B5EF4-FFF2-40B4-BE49-F238E27FC236}">
                <a16:creationId xmlns:a16="http://schemas.microsoft.com/office/drawing/2014/main" id="{7A46D662-26A4-7E1D-EA02-0845339ED7EB}"/>
              </a:ext>
            </a:extLst>
          </p:cNvPr>
          <p:cNvSpPr/>
          <p:nvPr/>
        </p:nvSpPr>
        <p:spPr>
          <a:xfrm>
            <a:off x="17530670" y="342543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0" name="Freeform 22">
            <a:extLst>
              <a:ext uri="{FF2B5EF4-FFF2-40B4-BE49-F238E27FC236}">
                <a16:creationId xmlns:a16="http://schemas.microsoft.com/office/drawing/2014/main" id="{8D0CC971-5BEE-14C5-4AD9-2AD7DB6B3DDB}"/>
              </a:ext>
            </a:extLst>
          </p:cNvPr>
          <p:cNvSpPr/>
          <p:nvPr/>
        </p:nvSpPr>
        <p:spPr>
          <a:xfrm>
            <a:off x="17621365" y="34987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3" name="Freeform 21">
            <a:extLst>
              <a:ext uri="{FF2B5EF4-FFF2-40B4-BE49-F238E27FC236}">
                <a16:creationId xmlns:a16="http://schemas.microsoft.com/office/drawing/2014/main" id="{BE70F2FC-66B3-0D83-0472-2BD2D7576E26}"/>
              </a:ext>
            </a:extLst>
          </p:cNvPr>
          <p:cNvSpPr/>
          <p:nvPr/>
        </p:nvSpPr>
        <p:spPr>
          <a:xfrm>
            <a:off x="17528868" y="404056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4" name="Freeform 22">
            <a:extLst>
              <a:ext uri="{FF2B5EF4-FFF2-40B4-BE49-F238E27FC236}">
                <a16:creationId xmlns:a16="http://schemas.microsoft.com/office/drawing/2014/main" id="{E08910E0-3254-6B5C-63A4-FCD75A6A16EC}"/>
              </a:ext>
            </a:extLst>
          </p:cNvPr>
          <p:cNvSpPr/>
          <p:nvPr/>
        </p:nvSpPr>
        <p:spPr>
          <a:xfrm>
            <a:off x="17606261" y="41292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5" name="Freeform 21">
            <a:extLst>
              <a:ext uri="{FF2B5EF4-FFF2-40B4-BE49-F238E27FC236}">
                <a16:creationId xmlns:a16="http://schemas.microsoft.com/office/drawing/2014/main" id="{F2FBD5A6-BCD8-294B-AA1D-63AF58D0BCA0}"/>
              </a:ext>
            </a:extLst>
          </p:cNvPr>
          <p:cNvSpPr/>
          <p:nvPr/>
        </p:nvSpPr>
        <p:spPr>
          <a:xfrm>
            <a:off x="17500139" y="462827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6" name="Freeform 22">
            <a:extLst>
              <a:ext uri="{FF2B5EF4-FFF2-40B4-BE49-F238E27FC236}">
                <a16:creationId xmlns:a16="http://schemas.microsoft.com/office/drawing/2014/main" id="{AE7F52EE-9BC4-39CA-F16D-1A0F7EE0D42D}"/>
              </a:ext>
            </a:extLst>
          </p:cNvPr>
          <p:cNvSpPr/>
          <p:nvPr/>
        </p:nvSpPr>
        <p:spPr>
          <a:xfrm>
            <a:off x="17592385" y="47168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7" name="Freeform 21">
            <a:extLst>
              <a:ext uri="{FF2B5EF4-FFF2-40B4-BE49-F238E27FC236}">
                <a16:creationId xmlns:a16="http://schemas.microsoft.com/office/drawing/2014/main" id="{D18175BF-4C10-F82E-6D54-572E522F2323}"/>
              </a:ext>
            </a:extLst>
          </p:cNvPr>
          <p:cNvSpPr/>
          <p:nvPr/>
        </p:nvSpPr>
        <p:spPr>
          <a:xfrm>
            <a:off x="17531608" y="5308557"/>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88" name="Freeform 22">
            <a:extLst>
              <a:ext uri="{FF2B5EF4-FFF2-40B4-BE49-F238E27FC236}">
                <a16:creationId xmlns:a16="http://schemas.microsoft.com/office/drawing/2014/main" id="{977DF200-638B-41F8-E187-04C8BC2B60A9}"/>
              </a:ext>
            </a:extLst>
          </p:cNvPr>
          <p:cNvSpPr/>
          <p:nvPr/>
        </p:nvSpPr>
        <p:spPr>
          <a:xfrm>
            <a:off x="17621365" y="539190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9" name="Freeform 21">
            <a:extLst>
              <a:ext uri="{FF2B5EF4-FFF2-40B4-BE49-F238E27FC236}">
                <a16:creationId xmlns:a16="http://schemas.microsoft.com/office/drawing/2014/main" id="{17D54756-07FB-0877-A564-096325E843FF}"/>
              </a:ext>
            </a:extLst>
          </p:cNvPr>
          <p:cNvSpPr/>
          <p:nvPr/>
        </p:nvSpPr>
        <p:spPr>
          <a:xfrm>
            <a:off x="17500139" y="601760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0" name="Freeform 22">
            <a:extLst>
              <a:ext uri="{FF2B5EF4-FFF2-40B4-BE49-F238E27FC236}">
                <a16:creationId xmlns:a16="http://schemas.microsoft.com/office/drawing/2014/main" id="{B566A5E1-28F6-53F7-A008-425B6B2DCCE9}"/>
              </a:ext>
            </a:extLst>
          </p:cNvPr>
          <p:cNvSpPr/>
          <p:nvPr/>
        </p:nvSpPr>
        <p:spPr>
          <a:xfrm>
            <a:off x="17592385" y="610612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1" name="Freeform 21">
            <a:extLst>
              <a:ext uri="{FF2B5EF4-FFF2-40B4-BE49-F238E27FC236}">
                <a16:creationId xmlns:a16="http://schemas.microsoft.com/office/drawing/2014/main" id="{306C39C2-6E2E-E9ED-4907-652CBE2903F4}"/>
              </a:ext>
            </a:extLst>
          </p:cNvPr>
          <p:cNvSpPr/>
          <p:nvPr/>
        </p:nvSpPr>
        <p:spPr>
          <a:xfrm>
            <a:off x="17517008" y="67055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2" name="Freeform 22">
            <a:extLst>
              <a:ext uri="{FF2B5EF4-FFF2-40B4-BE49-F238E27FC236}">
                <a16:creationId xmlns:a16="http://schemas.microsoft.com/office/drawing/2014/main" id="{90782366-0BA6-7E48-B260-4EF6A66DC9EB}"/>
              </a:ext>
            </a:extLst>
          </p:cNvPr>
          <p:cNvSpPr/>
          <p:nvPr/>
        </p:nvSpPr>
        <p:spPr>
          <a:xfrm>
            <a:off x="17594242" y="6794424"/>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22">
            <a:extLst>
              <a:ext uri="{FF2B5EF4-FFF2-40B4-BE49-F238E27FC236}">
                <a16:creationId xmlns:a16="http://schemas.microsoft.com/office/drawing/2014/main" id="{00CFE626-BE36-3759-0C78-1C96336B24EE}"/>
              </a:ext>
            </a:extLst>
          </p:cNvPr>
          <p:cNvSpPr/>
          <p:nvPr/>
        </p:nvSpPr>
        <p:spPr>
          <a:xfrm>
            <a:off x="17621365" y="816350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4" name="Freeform 21">
            <a:extLst>
              <a:ext uri="{FF2B5EF4-FFF2-40B4-BE49-F238E27FC236}">
                <a16:creationId xmlns:a16="http://schemas.microsoft.com/office/drawing/2014/main" id="{B2863E9B-0D9B-3727-9557-21FFEBF7C9A5}"/>
              </a:ext>
            </a:extLst>
          </p:cNvPr>
          <p:cNvSpPr/>
          <p:nvPr/>
        </p:nvSpPr>
        <p:spPr>
          <a:xfrm>
            <a:off x="17530471" y="73863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6" name="Freeform 22">
            <a:extLst>
              <a:ext uri="{FF2B5EF4-FFF2-40B4-BE49-F238E27FC236}">
                <a16:creationId xmlns:a16="http://schemas.microsoft.com/office/drawing/2014/main" id="{F89649F1-BAE1-58AD-1711-6E2E111F55A7}"/>
              </a:ext>
            </a:extLst>
          </p:cNvPr>
          <p:cNvSpPr/>
          <p:nvPr/>
        </p:nvSpPr>
        <p:spPr>
          <a:xfrm>
            <a:off x="17587012" y="840988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7" name="TextBox 34">
            <a:extLst>
              <a:ext uri="{FF2B5EF4-FFF2-40B4-BE49-F238E27FC236}">
                <a16:creationId xmlns:a16="http://schemas.microsoft.com/office/drawing/2014/main" id="{E95A9D15-E302-88DC-8193-DAFA67497C67}"/>
              </a:ext>
            </a:extLst>
          </p:cNvPr>
          <p:cNvSpPr txBox="1"/>
          <p:nvPr/>
        </p:nvSpPr>
        <p:spPr>
          <a:xfrm>
            <a:off x="14973571" y="3477126"/>
            <a:ext cx="241324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KULLANILACAK YÖNTEM</a:t>
            </a:r>
          </a:p>
        </p:txBody>
      </p:sp>
      <p:sp>
        <p:nvSpPr>
          <p:cNvPr id="98" name="Freeform 97">
            <a:extLst>
              <a:ext uri="{FF2B5EF4-FFF2-40B4-BE49-F238E27FC236}">
                <a16:creationId xmlns:a16="http://schemas.microsoft.com/office/drawing/2014/main" id="{A4340F12-7A8F-DBE2-97B2-5FD4113EED05}"/>
              </a:ext>
            </a:extLst>
          </p:cNvPr>
          <p:cNvSpPr/>
          <p:nvPr/>
        </p:nvSpPr>
        <p:spPr>
          <a:xfrm>
            <a:off x="17559351" y="80506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97">
            <a:extLst>
              <a:ext uri="{FF2B5EF4-FFF2-40B4-BE49-F238E27FC236}">
                <a16:creationId xmlns:a16="http://schemas.microsoft.com/office/drawing/2014/main" id="{244092CD-98D7-B936-258F-B857F76B2AE7}"/>
              </a:ext>
            </a:extLst>
          </p:cNvPr>
          <p:cNvSpPr/>
          <p:nvPr/>
        </p:nvSpPr>
        <p:spPr>
          <a:xfrm>
            <a:off x="17542281" y="1857455"/>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0" name="TextBox 8">
            <a:extLst>
              <a:ext uri="{FF2B5EF4-FFF2-40B4-BE49-F238E27FC236}">
                <a16:creationId xmlns:a16="http://schemas.microsoft.com/office/drawing/2014/main" id="{912B2DEE-2A92-1E07-5AB5-E6E550B4CF7C}"/>
              </a:ext>
            </a:extLst>
          </p:cNvPr>
          <p:cNvSpPr txBox="1"/>
          <p:nvPr/>
        </p:nvSpPr>
        <p:spPr>
          <a:xfrm>
            <a:off x="6171278" y="275281"/>
            <a:ext cx="5945444"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TAKIM</a:t>
            </a:r>
            <a:r>
              <a:rPr lang="tr-TR" sz="6399" dirty="0">
                <a:solidFill>
                  <a:srgbClr val="1A426A"/>
                </a:solidFill>
                <a:latin typeface="Active Heart"/>
              </a:rPr>
              <a:t> (0-5 Puan)</a:t>
            </a:r>
            <a:endParaRPr lang="en-US" sz="6399" dirty="0">
              <a:solidFill>
                <a:srgbClr val="1A426A"/>
              </a:solidFill>
              <a:latin typeface="Active Heart"/>
            </a:endParaRPr>
          </a:p>
        </p:txBody>
      </p:sp>
      <p:sp>
        <p:nvSpPr>
          <p:cNvPr id="101" name="TextBox 115">
            <a:extLst>
              <a:ext uri="{FF2B5EF4-FFF2-40B4-BE49-F238E27FC236}">
                <a16:creationId xmlns:a16="http://schemas.microsoft.com/office/drawing/2014/main" id="{6140009B-2ABA-C294-ECCA-C6941F5183BE}"/>
              </a:ext>
            </a:extLst>
          </p:cNvPr>
          <p:cNvSpPr txBox="1"/>
          <p:nvPr/>
        </p:nvSpPr>
        <p:spPr>
          <a:xfrm>
            <a:off x="882672" y="1740605"/>
            <a:ext cx="13521576" cy="553998"/>
          </a:xfrm>
          <a:prstGeom prst="rect">
            <a:avLst/>
          </a:prstGeom>
        </p:spPr>
        <p:txBody>
          <a:bodyPr wrap="square" lIns="0" tIns="0" rIns="0" bIns="0" rtlCol="0" anchor="t">
            <a:spAutoFit/>
          </a:bodyPr>
          <a:lstStyle/>
          <a:p>
            <a:pPr algn="just">
              <a:spcAft>
                <a:spcPts val="600"/>
              </a:spcAft>
            </a:pPr>
            <a:r>
              <a:rPr lang="tr-TR" sz="1800" dirty="0">
                <a:solidFill>
                  <a:srgbClr val="C00000"/>
                </a:solidFill>
                <a:effectLst/>
                <a:latin typeface="Aileron Bold" panose="020B0604020202020204" charset="-94"/>
                <a:ea typeface="SimSun" panose="02010600030101010101" pitchFamily="2" charset="-122"/>
                <a:cs typeface="Times New Roman" panose="02020603050405020304" pitchFamily="18" charset="0"/>
              </a:rPr>
              <a:t>Projenin geliştirilebilmesi için gerekli ihtiyaçları karşılayabilecek donanıma sahip yeterli sayıda üyeden oluşan proje ekibi tanıtılmalıdır.</a:t>
            </a:r>
          </a:p>
        </p:txBody>
      </p:sp>
      <p:sp>
        <p:nvSpPr>
          <p:cNvPr id="103" name="Freeform 22">
            <a:extLst>
              <a:ext uri="{FF2B5EF4-FFF2-40B4-BE49-F238E27FC236}">
                <a16:creationId xmlns:a16="http://schemas.microsoft.com/office/drawing/2014/main" id="{13034C60-5DBC-964F-7B6A-3A9F5094251D}"/>
              </a:ext>
            </a:extLst>
          </p:cNvPr>
          <p:cNvSpPr/>
          <p:nvPr/>
        </p:nvSpPr>
        <p:spPr>
          <a:xfrm>
            <a:off x="17619156" y="243447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8" name="TextBox 114">
            <a:extLst>
              <a:ext uri="{FF2B5EF4-FFF2-40B4-BE49-F238E27FC236}">
                <a16:creationId xmlns:a16="http://schemas.microsoft.com/office/drawing/2014/main" id="{4C56DCE9-FFB7-9DA6-574D-92ED03DAC303}"/>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8"/>
          <p:cNvSpPr txBox="1">
            <a:spLocks noGrp="1" noRot="1" noMove="1" noResize="1" noEditPoints="1" noAdjustHandles="1" noChangeArrowheads="1" noChangeShapeType="1"/>
          </p:cNvSpPr>
          <p:nvPr/>
        </p:nvSpPr>
        <p:spPr>
          <a:xfrm>
            <a:off x="3814152" y="315724"/>
            <a:ext cx="10715094" cy="820738"/>
          </a:xfrm>
          <a:prstGeom prst="rect">
            <a:avLst/>
          </a:prstGeom>
        </p:spPr>
        <p:txBody>
          <a:bodyPr lIns="0" tIns="0" rIns="0" bIns="0" rtlCol="0" anchor="t">
            <a:spAutoFit/>
          </a:bodyPr>
          <a:lstStyle/>
          <a:p>
            <a:pPr algn="ctr">
              <a:lnSpc>
                <a:spcPts val="6399"/>
              </a:lnSpc>
              <a:spcBef>
                <a:spcPct val="0"/>
              </a:spcBef>
            </a:pPr>
            <a:r>
              <a:rPr lang="en-US" sz="6399" dirty="0">
                <a:solidFill>
                  <a:srgbClr val="1A426A"/>
                </a:solidFill>
                <a:latin typeface="Active Heart"/>
              </a:rPr>
              <a:t>TEŞEKKÜRLER</a:t>
            </a:r>
          </a:p>
        </p:txBody>
      </p:sp>
      <p:sp>
        <p:nvSpPr>
          <p:cNvPr id="10" name="TextBox 10"/>
          <p:cNvSpPr txBox="1">
            <a:spLocks/>
          </p:cNvSpPr>
          <p:nvPr/>
        </p:nvSpPr>
        <p:spPr>
          <a:xfrm>
            <a:off x="17830801" y="9607673"/>
            <a:ext cx="457199" cy="519822"/>
          </a:xfrm>
          <a:prstGeom prst="rect">
            <a:avLst/>
          </a:prstGeom>
        </p:spPr>
        <p:txBody>
          <a:bodyPr wrap="square" lIns="0" tIns="0" rIns="0" bIns="0" rtlCol="0" anchor="t">
            <a:spAutoFit/>
          </a:bodyPr>
          <a:lstStyle/>
          <a:p>
            <a:pPr algn="ctr">
              <a:lnSpc>
                <a:spcPts val="4759"/>
              </a:lnSpc>
            </a:pPr>
            <a:r>
              <a:rPr lang="tr-TR" sz="3399" dirty="0">
                <a:solidFill>
                  <a:srgbClr val="1A426A"/>
                </a:solidFill>
                <a:latin typeface="Active Heart"/>
              </a:rPr>
              <a:t>12</a:t>
            </a:r>
            <a:endParaRPr lang="en-US" sz="3399" dirty="0">
              <a:solidFill>
                <a:srgbClr val="1A426A"/>
              </a:solidFill>
              <a:latin typeface="Active Heart"/>
            </a:endParaRPr>
          </a:p>
        </p:txBody>
      </p:sp>
      <p:sp>
        <p:nvSpPr>
          <p:cNvPr id="19" name="Freeform 19"/>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1" name="TextBox 20"/>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1026" name="Picture 2">
            <a:extLst>
              <a:ext uri="{FF2B5EF4-FFF2-40B4-BE49-F238E27FC236}">
                <a16:creationId xmlns:a16="http://schemas.microsoft.com/office/drawing/2014/main" id="{0894A795-C46A-AE71-63CA-86CF3FBBAC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45499" y="4205832"/>
            <a:ext cx="4457700" cy="4457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114">
            <a:extLst>
              <a:ext uri="{FF2B5EF4-FFF2-40B4-BE49-F238E27FC236}">
                <a16:creationId xmlns:a16="http://schemas.microsoft.com/office/drawing/2014/main" id="{5C6C78D9-EABF-002E-661C-0C943071BFCF}"/>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sz="1800" dirty="0">
                <a:solidFill>
                  <a:srgbClr val="1A426A"/>
                </a:solidFill>
                <a:latin typeface="Active Heart"/>
              </a:rPr>
              <a:t>202</a:t>
            </a:r>
            <a:r>
              <a:rPr lang="tr-TR" dirty="0">
                <a:solidFill>
                  <a:srgbClr val="1A426A"/>
                </a:solidFill>
                <a:latin typeface="Active Heart"/>
              </a:rPr>
              <a:t>6</a:t>
            </a:r>
            <a:r>
              <a:rPr lang="en-US" sz="1800" dirty="0">
                <a:solidFill>
                  <a:srgbClr val="1A426A"/>
                </a:solidFill>
                <a:latin typeface="Active Heart"/>
              </a:rPr>
              <a:t> TEKNOFEST FİNANSAL TEKNOLOJİLER YARIŞMASI PROJE SUNUM ŞABLONU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00099" y="1438027"/>
            <a:ext cx="16687801" cy="4708981"/>
          </a:xfrm>
          <a:prstGeom prst="rect">
            <a:avLst/>
          </a:prstGeom>
        </p:spPr>
        <p:txBody>
          <a:bodyPr wrap="square" lIns="0" tIns="0" rIns="0" bIns="0" rtlCol="0" anchor="t">
            <a:spAutoFit/>
          </a:bodyPr>
          <a:lstStyle/>
          <a:p>
            <a:pPr algn="just"/>
            <a:r>
              <a:rPr lang="tr-TR" sz="1900" dirty="0">
                <a:latin typeface="Aileron Bold" panose="020B0604020202020204" charset="-94"/>
              </a:rPr>
              <a:t>Aşağıda belirtilen kurallar, proje sunum dosyalarının hazırlanması, yüklenmesi ve sunum aşamasıyla ilgili gereklilikleri içermektedir. Takımların, belirlenen kurallara tam uyum sağlaması beklenmektedir.</a:t>
            </a:r>
          </a:p>
          <a:p>
            <a:pPr algn="just"/>
            <a:endParaRPr lang="tr-TR" sz="1900" dirty="0"/>
          </a:p>
          <a:p>
            <a:pPr algn="just"/>
            <a:r>
              <a:rPr lang="tr-TR" sz="2000" b="1" u="sng" dirty="0">
                <a:latin typeface="Aileron Bold" panose="020B0604020202020204" charset="-94"/>
              </a:rPr>
              <a:t>Sunum Düzeni Kuralları</a:t>
            </a:r>
            <a:endParaRPr lang="tr-TR" sz="2000" dirty="0">
              <a:latin typeface="Aileron Bold" panose="020B0604020202020204" charset="-94"/>
            </a:endParaRPr>
          </a:p>
          <a:p>
            <a:pPr marL="342900" indent="-342900" algn="just">
              <a:buFont typeface="Calibri" panose="020F0502020204030204" pitchFamily="34" charset="0"/>
              <a:buChar char="●"/>
            </a:pPr>
            <a:r>
              <a:rPr lang="tr-TR" sz="1900" b="1" dirty="0"/>
              <a:t>Sunum düzeni 0-5 puan arasındadır.</a:t>
            </a:r>
          </a:p>
          <a:p>
            <a:pPr marL="342900" indent="-342900" algn="just">
              <a:buFont typeface="Calibri" panose="020F0502020204030204" pitchFamily="34" charset="0"/>
              <a:buChar char="●"/>
            </a:pPr>
            <a:r>
              <a:rPr lang="tr-TR" sz="1900" dirty="0"/>
              <a:t>Sunum, şablonda yer alan tüm başlıkları içermekte ve bu başlıklarla ilgili tatmin edici bilgi vermektedir.</a:t>
            </a:r>
          </a:p>
          <a:p>
            <a:pPr marL="342900" indent="-342900" algn="just">
              <a:buFont typeface="Calibri" panose="020F0502020204030204" pitchFamily="34" charset="0"/>
              <a:buChar char="●"/>
            </a:pPr>
            <a:r>
              <a:rPr lang="tr-TR" sz="1900" dirty="0"/>
              <a:t>Sunumda kullanılan şekiller/tablolar/diyagramlar anlaşılır ve düzenlidir.</a:t>
            </a:r>
          </a:p>
          <a:p>
            <a:pPr marL="342900" indent="-342900" algn="just">
              <a:buFont typeface="Calibri" panose="020F0502020204030204" pitchFamily="34" charset="0"/>
              <a:buChar char="●"/>
            </a:pPr>
            <a:r>
              <a:rPr lang="tr-TR" sz="1900" dirty="0"/>
              <a:t>Şartnamede ve şablonda belirtilen kurallara uygun olarak hazırlanmıştır.  </a:t>
            </a:r>
          </a:p>
          <a:p>
            <a:pPr marL="342900" indent="-342900" algn="just">
              <a:buFont typeface="Calibri" panose="020F0502020204030204" pitchFamily="34" charset="0"/>
              <a:buChar char="●"/>
            </a:pPr>
            <a:r>
              <a:rPr lang="tr-TR" sz="1900" dirty="0"/>
              <a:t>Sunum toplamda 15 sayfayı geçmemelidir.</a:t>
            </a:r>
          </a:p>
          <a:p>
            <a:pPr marL="342900" indent="-342900" algn="just">
              <a:buFont typeface="Calibri" panose="020F0502020204030204" pitchFamily="34" charset="0"/>
              <a:buChar char="●"/>
            </a:pPr>
            <a:r>
              <a:rPr lang="tr-TR" sz="1900" dirty="0"/>
              <a:t>Sunum içindeki cümleler birbirinin aynısı ve tekrarı niteliğinde olmamalıdır.</a:t>
            </a:r>
          </a:p>
          <a:p>
            <a:pPr marL="342900" indent="-342900" algn="just">
              <a:buFont typeface="Calibri" panose="020F0502020204030204" pitchFamily="34" charset="0"/>
              <a:buChar char="●"/>
            </a:pPr>
            <a:r>
              <a:rPr lang="tr-TR" sz="1900" dirty="0"/>
              <a:t>Sunum akıcı ve düzgün bir dille yapılmalıdır. </a:t>
            </a:r>
          </a:p>
          <a:p>
            <a:pPr algn="just"/>
            <a:endParaRPr lang="tr-TR" sz="1900" dirty="0"/>
          </a:p>
          <a:p>
            <a:pPr algn="just"/>
            <a:r>
              <a:rPr lang="tr-TR" sz="2000" b="1" u="sng" dirty="0">
                <a:latin typeface="Aileron Bold" panose="020B0604020202020204" charset="-94"/>
              </a:rPr>
              <a:t>Notlar</a:t>
            </a:r>
            <a:endParaRPr lang="tr-TR" sz="2000" dirty="0">
              <a:latin typeface="Aileron Bold" panose="020B0604020202020204" charset="-94"/>
            </a:endParaRPr>
          </a:p>
          <a:p>
            <a:pPr marL="342900" indent="-342900" algn="just">
              <a:buFont typeface="Calibri" panose="020F0502020204030204" pitchFamily="34" charset="0"/>
              <a:buChar char="●"/>
            </a:pPr>
            <a:r>
              <a:rPr lang="tr-TR" sz="1900" dirty="0"/>
              <a:t>Yalnızca değerlendirme kriterlerindeki başlıklar değerlendirilmekle birlikte istenirse ek bilgiler verilebilecektir.</a:t>
            </a:r>
          </a:p>
          <a:p>
            <a:pPr marL="342900" indent="-342900" algn="just">
              <a:buFont typeface="Calibri" panose="020F0502020204030204" pitchFamily="34" charset="0"/>
              <a:buChar char="●"/>
            </a:pPr>
            <a:r>
              <a:rPr lang="tr-TR" sz="1900" dirty="0"/>
              <a:t>Toplam sayfa sayısına uyulduğu sürece istenen sayıda ve tasarımda sayfa kullanılabilir.</a:t>
            </a:r>
          </a:p>
          <a:p>
            <a:pPr marL="342900" indent="-342900" algn="just">
              <a:buFont typeface="Calibri" panose="020F0502020204030204" pitchFamily="34" charset="0"/>
              <a:buChar char="●"/>
            </a:pPr>
            <a:r>
              <a:rPr lang="tr-TR" sz="1900" dirty="0"/>
              <a:t>Sunumda gösterilmeyen/anlatılmayan sayfalardan 0 puan alınacaktır.</a:t>
            </a:r>
          </a:p>
        </p:txBody>
      </p:sp>
      <p:sp>
        <p:nvSpPr>
          <p:cNvPr id="3" name="TextBox 3"/>
          <p:cNvSpPr txBox="1"/>
          <p:nvPr/>
        </p:nvSpPr>
        <p:spPr>
          <a:xfrm>
            <a:off x="3149967" y="200219"/>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0" y="700437"/>
            <a:ext cx="18516599" cy="532453"/>
          </a:xfrm>
          <a:prstGeom prst="rect">
            <a:avLst/>
          </a:prstGeom>
        </p:spPr>
        <p:txBody>
          <a:bodyPr wrap="square" lIns="0" tIns="0" rIns="0" bIns="0" rtlCol="0" anchor="t">
            <a:spAutoFit/>
          </a:bodyPr>
          <a:lstStyle/>
          <a:p>
            <a:pPr algn="ctr">
              <a:lnSpc>
                <a:spcPts val="4759"/>
              </a:lnSpc>
            </a:pPr>
            <a:r>
              <a:rPr lang="en-US" sz="2400" b="1" u="sng" dirty="0">
                <a:solidFill>
                  <a:srgbClr val="DE2223"/>
                </a:solidFill>
                <a:latin typeface="Aileron Bold"/>
              </a:rPr>
              <a:t>SUNUMDA BU SAYFAYA YER VERİLMEYECEKTİR!!!</a:t>
            </a:r>
            <a:r>
              <a:rPr lang="tr-TR" sz="2400" b="1" u="sng" dirty="0">
                <a:solidFill>
                  <a:srgbClr val="DE2223"/>
                </a:solidFill>
                <a:latin typeface="Aileron Bold"/>
              </a:rPr>
              <a:t> </a:t>
            </a:r>
            <a:r>
              <a:rPr lang="en-US" sz="2400" b="1" u="sng" dirty="0">
                <a:solidFill>
                  <a:srgbClr val="DE2223"/>
                </a:solidFill>
                <a:latin typeface="Aileron Bold"/>
              </a:rPr>
              <a:t>(KURALLARA GÖRE HAZIRLANDIKTAN SONRA SİLİNMELİDİR.)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1137</TotalTime>
  <Words>776</Words>
  <Application>Microsoft Macintosh PowerPoint</Application>
  <PresentationFormat>Özel</PresentationFormat>
  <Paragraphs>166</Paragraphs>
  <Slides>12</Slides>
  <Notes>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12</vt:i4>
      </vt:variant>
    </vt:vector>
  </HeadingPairs>
  <TitlesOfParts>
    <vt:vector size="19" baseType="lpstr">
      <vt:lpstr>Arial</vt:lpstr>
      <vt:lpstr>Calibri</vt:lpstr>
      <vt:lpstr>Aptos</vt:lpstr>
      <vt:lpstr>Arial Black</vt:lpstr>
      <vt:lpstr>Active Heart</vt:lpstr>
      <vt:lpstr>Aileron 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Muhammet Fatih Şahin</cp:lastModifiedBy>
  <cp:revision>49</cp:revision>
  <dcterms:created xsi:type="dcterms:W3CDTF">2006-08-16T00:00:00Z</dcterms:created>
  <dcterms:modified xsi:type="dcterms:W3CDTF">2026-05-21T16:01:01Z</dcterms:modified>
  <dc:identifier>DAGDnxWSptA</dc:identifier>
</cp:coreProperties>
</file>